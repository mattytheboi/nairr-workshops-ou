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9" roundtripDataSignature="AMtx7mhGmG1yZRZ3aX63evtkloo+yMuY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55915E-2F6B-4B7F-A6D7-22E11AC4E76C}">
  <a:tblStyle styleId="{C055915E-2F6B-4B7F-A6D7-22E11AC4E7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9" Type="http://customschemas.google.com/relationships/presentationmetadata" Target="metadata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slide. The point: a perfect tracker that never acts is still just a demo (callback to slide 2). Control is where perception earns its keep. Set up the two pieces: path tracking (steering) and the safety layer (longitudinal / braking).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Pure pursuit: imagine driving by always aiming at a point a fixed distance ahead on the lane — lookahead distance is the key knob (short = twitchy, long = lazy). Stanley adds an explicit cross-track term, so it hugs the path harder. Both are still used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piece that ties perception to consequences. TTC turns tracked velocities into a scalar risk; adaptive cruise handles the normal case; the emergency-brake override is what the live demo will toggle. Foreshadow: turn it off and watch a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Reassure them this is synthesis, not new material. Each box maps to a notebook they just did. The novelty is the closed loop: control changes the next frame's perception, so small errors compound — exactly why estimation and a safety layer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Drive the demo live: start clean (no crash), turn avoidance off and trigger a cut-in to get a collision, turn it back on to show the brake, then blackout the sensor mid-approach for the 'it didn't see it coming' moment. Then hand off — let them break it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 back explicitly to the early/mid/late taxonomy slide. BEV deep fusion projects all sensors into a common bird's-eye feature grid and lets a network do the combining — the same BEV view your capstone draws, but learned rather than hand-built.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honest: end-to-end is not strictly 'better.' It excels on data it has seen but is hard to verify, so safety-critical autonomy still leans modular. The skills they built today (explicit estimation, tracking, control) are exactly what makes a stack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Land the plane: each box is something they implemented, not just saw. Restate the through-line from slide 2 — a stack that remembers, fuses, and acts. Then send them into the 2-hour hands-on block, ending on N6.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7" name="Google Shape;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7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50" name="Google Shape;50;p17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d9d5b514_2_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cd9d5b514_2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g3ecd9d5b514_2_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ecd9d5b514_2_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ecd9d5b514_2_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g3ecd9d5b514_2_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cd9d5b514_2_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g3ecd9d5b514_2_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g3ecd9d5b514_2_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cd9d5b514_2_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ecd9d5b514_2_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g3ecd9d5b514_2_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cd9d5b514_2_18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g3ecd9d5b514_2_18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cd9d5b514_2_2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ecd9d5b514_2_2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g3ecd9d5b514_2_2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ecd9d5b514_2_2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d9d5b514_2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cd9d5b514_2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g3ecd9d5b514_2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g3ecd9d5b514_2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g3ecd9d5b514_2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ecd9d5b514_2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ecd9d5b514_2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12" name="Google Shape;112;g3ecd9d5b514_2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ecd9d5b514_2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cd9d5b514_2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5" name="Google Shape;115;g3ecd9d5b514_2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ecd9d5b514_2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18" name="Google Shape;118;g3ecd9d5b514_2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cd9d5b514_2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d9d5b514_2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cd9d5b514_2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g3ecd9d5b514_2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g3ecd9d5b514_2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g3ecd9d5b514_2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d9d5b514_2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cd9d5b514_2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3ecd9d5b514_2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0" name="Google Shape;130;g3ecd9d5b514_2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3ecd9d5b514_2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2" name="Google Shape;132;g3ecd9d5b514_2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ecd9d5b514_2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d9d5b514_2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ecd9d5b514_2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ecd9d5b514_4_7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ecd9d5b514_4_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g3ecd9d5b514_4_7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ecd9d5b514_4_7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g3ecd9d5b514_4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g3ecd9d5b514_4_7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d9d5b514_4_1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cd9d5b514_4_1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g3ecd9d5b514_4_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ecd9d5b514_4_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cd9d5b514_4_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ecd9d5b514_4_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ecd9d5b514_4_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cd9d5b514_4_2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ecd9d5b514_4_2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g3ecd9d5b514_4_2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ecd9d5b514_4_23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g3ecd9d5b514_4_23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d9d5b514_4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cd9d5b514_4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69" name="Google Shape;169;g3ecd9d5b514_4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g3ecd9d5b514_4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1" name="Google Shape;171;g3ecd9d5b514_4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ecd9d5b514_4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ecd9d5b514_4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76" name="Google Shape;176;g3ecd9d5b514_4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ecd9d5b514_4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ecd9d5b514_4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79" name="Google Shape;179;g3ecd9d5b514_4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ecd9d5b514_4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82" name="Google Shape;182;g3ecd9d5b514_4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cd9d5b514_4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d9d5b514_4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cd9d5b514_4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cd9d5b514_4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g3ecd9d5b514_4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g3ecd9d5b514_4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d9d5b514_4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ecd9d5b514_4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g3ecd9d5b514_4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g3ecd9d5b514_4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g3ecd9d5b514_4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g3ecd9d5b514_4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ecd9d5b514_4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cd9d5b514_4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g3ecd9d5b514_4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d9d5b514_2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ecd9d5b514_2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6" name="Google Shape;76;g3ecd9d5b514_2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g3ecd9d5b514_2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g3ecd9d5b514_2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cd9d5b514_2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d9d5b514_4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g3ecd9d5b514_4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0" name="Google Shape;140;g3ecd9d5b514_4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g3ecd9d5b514_4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g3ecd9d5b514_4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ecd9d5b514_4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/>
              <a:t>NAIRR – Sensor Fusion, Estimation, and AI </a:t>
            </a:r>
            <a:endParaRPr/>
          </a:p>
        </p:txBody>
      </p:sp>
      <p:sp>
        <p:nvSpPr>
          <p:cNvPr id="207" name="Google Shape;207;p1"/>
          <p:cNvSpPr txBox="1"/>
          <p:nvPr>
            <p:ph idx="1" type="body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Presentation 3 — Acting on the World </a:t>
            </a:r>
            <a:endParaRPr/>
          </a:p>
        </p:txBody>
      </p:sp>
      <p:sp>
        <p:nvSpPr>
          <p:cNvPr id="208" name="Google Shape;208;p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"/>
          <p:cNvSpPr txBox="1"/>
          <p:nvPr>
            <p:ph idx="11" type="ftr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Workshop 4.3 · Companion to Workshop 4.2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4" name="Google Shape;214;g3ecd9d5b514_4_71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From Perception to Action</a:t>
            </a:r>
            <a:endParaRPr/>
          </a:p>
        </p:txBody>
      </p:sp>
      <p:sp>
        <p:nvSpPr>
          <p:cNvPr id="215" name="Google Shape;215;g3ecd9d5b514_4_71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sz="2000" b="1">
                <a:solidFill>
                  <a:srgbClr val="1A1A1A"/>
                </a:solidFill>
                <a:latin typeface="Verdana"/>
              </a:rPr>
              <a:t>We can now estimate and track the world. So what?</a:t>
            </a:r>
            <a:endParaRPr/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Verdana"/>
              </a:rPr>
              <a:t>Perception is never the goal — it exists to enable a decision. The loop only closes when our state estimate becomes a steering angle and a throttle command.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937B4F"/>
                </a:solidFill>
                <a:latin typeface="Verdana"/>
              </a:rPr>
              <a:t>Sense  →  Fuse  →  Estimate  →  Track  →  Act</a:t>
            </a:r>
          </a:p>
          <a:p>
            <a:r>
              <a:rPr sz="1300" b="0">
                <a:solidFill>
                  <a:srgbClr val="6B6B6B"/>
                </a:solidFill>
                <a:latin typeface="Verdana"/>
              </a:rPr>
              <a:t>The rest of today is the 'Act' stage: turn a tracked, uncertain world into safe motion — first by following a path, then by not hitting anything.</a:t>
            </a:r>
          </a:p>
        </p:txBody>
      </p:sp>
      <p:sp>
        <p:nvSpPr>
          <p:cNvPr id="216" name="Google Shape;216;g3ecd9d5b514_4_71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2</a:t>
            </a:r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0">
                <a:solidFill>
                  <a:srgbClr val="8A8A8A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N4 · Path Track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3" name="Google Shape;283;g3ecd9d5b514_2_7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Following the Path</a:t>
            </a:r>
            <a:endParaRPr/>
          </a:p>
        </p:txBody>
      </p:sp>
      <p:sp>
        <p:nvSpPr>
          <p:cNvPr id="284" name="Google Shape;284;g3ecd9d5b514_2_7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3</a:t>
            </a:r>
            <a:endParaRPr/>
          </a:p>
        </p:txBody>
      </p:sp>
      <p:sp>
        <p:nvSpPr>
          <p:cNvPr id="285" name="Google Shape;285;g3ecd9d5b514_2_78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Given a reference path, how do we steer onto it? Two classical controllers — no learning required.</a:t>
            </a:r>
            <a:endParaRPr/>
          </a:p>
        </p:txBody>
      </p:sp>
      <p:sp>
        <p:nvSpPr>
          <p:cNvPr id="286" name="Google Shape;286;g3ecd9d5b514_2_78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THE JOB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Path tracking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path → steering angle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Input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A reference path 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the vehicle’s state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A steering command,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every timestep</a:t>
            </a:r>
          </a:p>
        </p:txBody>
      </p:sp>
      <p:sp>
        <p:nvSpPr>
          <p:cNvPr id="287" name="Google Shape;287;g3ecd9d5b514_2_78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cd9d5b514_2_78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OPTION A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Pure Pursuit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aim ahead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Pick a lookahead point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on the path; steer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toward it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Feel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Simple, smooth,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forgiving</a:t>
            </a:r>
          </a:p>
        </p:txBody>
      </p:sp>
      <p:sp>
        <p:nvSpPr>
          <p:cNvPr id="289" name="Google Shape;289;g3ecd9d5b514_2_78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d9d5b514_2_78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OPTION B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Stanley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kill cross-track error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Correct heading 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lateral offset together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Feel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Tighter tracking,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less corner-cutting</a:t>
            </a:r>
          </a:p>
        </p:txBody>
      </p:sp>
      <p:sp>
        <p:nvSpPr>
          <p:cNvPr id="291" name="Google Shape;291;g3ecd9d5b514_2_78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cd9d5b514_2_78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37B4F"/>
                </a:solidFill>
                <a:latin typeface="Verdana"/>
              </a:rPr>
              <a:t>Both are pure geometry plus a gain or two. You implement and tune them against a real path in N4.</a:t>
            </a: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0">
                <a:solidFill>
                  <a:srgbClr val="8A8A8A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N4 · Path Track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3" name="Google Shape;283;g3ecd9d5b514_2_7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Don’t Hit Things</a:t>
            </a:r>
            <a:endParaRPr/>
          </a:p>
        </p:txBody>
      </p:sp>
      <p:sp>
        <p:nvSpPr>
          <p:cNvPr id="284" name="Google Shape;284;g3ecd9d5b514_2_7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4</a:t>
            </a:r>
            <a:endParaRPr/>
          </a:p>
        </p:txBody>
      </p:sp>
      <p:sp>
        <p:nvSpPr>
          <p:cNvPr id="285" name="Google Shape;285;g3ecd9d5b514_2_78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Steering keeps us on the path; a separate safety layer keeps us off the car in front. It runs on the tracks we built.</a:t>
            </a:r>
            <a:endParaRPr/>
          </a:p>
        </p:txBody>
      </p:sp>
      <p:sp>
        <p:nvSpPr>
          <p:cNvPr id="286" name="Google Shape;286;g3ecd9d5b514_2_78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FORECAST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Time-to-collision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how many seconds?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Project tracks forward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along our path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TTC — seconds until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impact if nothing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changes</a:t>
            </a:r>
          </a:p>
        </p:txBody>
      </p:sp>
      <p:sp>
        <p:nvSpPr>
          <p:cNvPr id="287" name="Google Shape;287;g3ecd9d5b514_2_78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cd9d5b514_2_78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NORMAL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Adaptive cruise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keep a gap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Match the lead car’s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speed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Rule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Hold a distance that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grows with speed</a:t>
            </a:r>
          </a:p>
        </p:txBody>
      </p:sp>
      <p:sp>
        <p:nvSpPr>
          <p:cNvPr id="289" name="Google Shape;289;g3ecd9d5b514_2_78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d9d5b514_2_78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DANGER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Emergency brake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override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Trigger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TTC below threshold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Action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Full brake — ignore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cruise, ignore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comfort</a:t>
            </a:r>
          </a:p>
        </p:txBody>
      </p:sp>
      <p:sp>
        <p:nvSpPr>
          <p:cNvPr id="291" name="Google Shape;291;g3ecd9d5b514_2_78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cd9d5b514_2_78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A1A1A"/>
                </a:solidFill>
                <a:latin typeface="Verdana"/>
              </a:rPr>
              <a:t>Estimation and tracking feed the controller. This safety glue is the beating heart of the N5 capstone.</a:t>
            </a: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0">
                <a:solidFill>
                  <a:srgbClr val="8A8A8A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N4–N5 · Safety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3" name="Google Shape;283;g3ecd9d5b514_2_7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Capstone: One Loop, Every Piece</a:t>
            </a:r>
            <a:endParaRPr/>
          </a:p>
        </p:txBody>
      </p:sp>
      <p:sp>
        <p:nvSpPr>
          <p:cNvPr id="284" name="Google Shape;284;g3ecd9d5b514_2_7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5</a:t>
            </a:r>
            <a:endParaRPr/>
          </a:p>
        </p:txBody>
      </p:sp>
      <p:sp>
        <p:nvSpPr>
          <p:cNvPr id="285" name="Google Shape;285;g3ecd9d5b514_2_78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N5 is not a new topic — it’s every subsystem you built, wired into a single closed loop on real data.</a:t>
            </a:r>
            <a:endParaRPr/>
          </a:p>
        </p:txBody>
      </p:sp>
      <p:sp>
        <p:nvSpPr>
          <p:cNvPr id="286" name="Google Shape;286;g3ecd9d5b514_2_78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REAL DATA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KITTI drive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a real ego trajectory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Source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Real vehicle path from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KITTI drive 0005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Why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Grounded motion, not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a toy straight line</a:t>
            </a:r>
          </a:p>
        </p:txBody>
      </p:sp>
      <p:sp>
        <p:nvSpPr>
          <p:cNvPr id="287" name="Google Shape;287;g3ecd9d5b514_2_78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cd9d5b514_2_78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CLOSED LOOP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It runs itself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perception drives control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Sense → estimate →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track → plan → act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→ move → repeat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Why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Errors compound —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like real driving</a:t>
            </a:r>
          </a:p>
        </p:txBody>
      </p:sp>
      <p:sp>
        <p:nvSpPr>
          <p:cNvPr id="289" name="Google Shape;289;g3ecd9d5b514_2_78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d9d5b514_2_78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EMERGENT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Crash or avoid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behavior, not script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Outcomes emerge from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the knobs you set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Why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No outcome 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hard-coded</a:t>
            </a:r>
          </a:p>
        </p:txBody>
      </p:sp>
      <p:sp>
        <p:nvSpPr>
          <p:cNvPr id="291" name="Google Shape;291;g3ecd9d5b514_2_78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cd9d5b514_2_78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A1A1A"/>
                </a:solidFill>
                <a:latin typeface="Verdana"/>
              </a:rPr>
              <a:t>Every notebook becomes one subsystem of a single running simulator — fuse, estimate, track, plan, act.</a:t>
            </a: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1">
                <a:solidFill>
                  <a:srgbClr val="937B4F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N5 · BEV Sim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3" name="Google Shape;283;g3ecd9d5b514_2_7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Live Demo: Tune the Knobs</a:t>
            </a:r>
            <a:endParaRPr/>
          </a:p>
        </p:txBody>
      </p:sp>
      <p:sp>
        <p:nvSpPr>
          <p:cNvPr id="284" name="Google Shape;284;g3ecd9d5b514_2_7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6</a:t>
            </a:r>
            <a:endParaRPr/>
          </a:p>
        </p:txBody>
      </p:sp>
      <p:sp>
        <p:nvSpPr>
          <p:cNvPr id="285" name="Google Shape;285;g3ecd9d5b514_2_78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This is your turn. A bird’s-eye simulator with live sliders — change a setting and watch the outcome change instantly.</a:t>
            </a:r>
            <a:endParaRPr/>
          </a:p>
        </p:txBody>
      </p:sp>
      <p:sp>
        <p:nvSpPr>
          <p:cNvPr id="286" name="Google Shape;286;g3ecd9d5b514_2_78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KNOBS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What you control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Try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Controller &amp; lookahead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Collision avoidance on/off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TTC threshold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Antagonist behavior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Sensor noise / blackout</a:t>
            </a:r>
          </a:p>
        </p:txBody>
      </p:sp>
      <p:sp>
        <p:nvSpPr>
          <p:cNvPr id="287" name="Google Shape;287;g3ecd9d5b514_2_78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cd9d5b514_2_78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WATCH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What you see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Panels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BEV ego-centered 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Estimate vs. ground truth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Live TTC trace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Crash / clearance readout</a:t>
            </a:r>
          </a:p>
        </p:txBody>
      </p:sp>
      <p:sp>
        <p:nvSpPr>
          <p:cNvPr id="289" name="Google Shape;289;g3ecd9d5b514_2_78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d9d5b514_2_78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THE MOMENT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Make it crash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Demo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Cut-in with avoidance OFF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→ collision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Avoidance ON → it brakes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Blackout the sensor →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'didn’t see it coming'</a:t>
            </a:r>
          </a:p>
        </p:txBody>
      </p:sp>
      <p:sp>
        <p:nvSpPr>
          <p:cNvPr id="291" name="Google Shape;291;g3ecd9d5b514_2_78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cd9d5b514_2_78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37B4F"/>
                </a:solidFill>
                <a:latin typeface="Verdana"/>
              </a:rPr>
              <a:t>Sliders are live — no re-render, no Run button. This is the hands-on; spend your time here.</a:t>
            </a: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1">
                <a:solidFill>
                  <a:srgbClr val="937B4F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N5 · Hands-on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3" name="Google Shape;283;g3ecd9d5b514_2_7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Classical → Learned: BEV Deep Fusion</a:t>
            </a:r>
            <a:endParaRPr/>
          </a:p>
        </p:txBody>
      </p:sp>
      <p:sp>
        <p:nvSpPr>
          <p:cNvPr id="284" name="Google Shape;284;g3ecd9d5b514_2_7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7</a:t>
            </a:r>
            <a:endParaRPr/>
          </a:p>
        </p:txBody>
      </p:sp>
      <p:sp>
        <p:nvSpPr>
          <p:cNvPr id="285" name="Google Shape;285;g3ecd9d5b514_2_78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Everything today was modular and hand-built. The frontier fuses earlier and learns the fusion itself.</a:t>
            </a:r>
            <a:endParaRPr/>
          </a:p>
        </p:txBody>
      </p:sp>
      <p:sp>
        <p:nvSpPr>
          <p:cNvPr id="286" name="Google Shape;286;g3ecd9d5b514_2_78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TODAY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Late fusion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what you built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How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Per-sensor detection,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then combine objects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(Kalman, association)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Strength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Modular, debuggable,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fails gracefully</a:t>
            </a:r>
          </a:p>
        </p:txBody>
      </p:sp>
      <p:sp>
        <p:nvSpPr>
          <p:cNvPr id="287" name="Google Shape;287;g3ecd9d5b514_2_78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cd9d5b514_2_78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FRONTIER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BEV deep fusion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the 'MID' box, paid off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How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Fuse camera + lidar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features in a shared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bird’s-eye grid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Strength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Learned end-to-end;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higher ceiling</a:t>
            </a:r>
          </a:p>
        </p:txBody>
      </p:sp>
      <p:sp>
        <p:nvSpPr>
          <p:cNvPr id="289" name="Google Shape;289;g3ecd9d5b514_2_78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d9d5b514_2_78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COST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Nothing’s free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the tradeoff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Needs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Data, compute,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calibration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Loses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Interpretability —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hard to debug</a:t>
            </a:r>
          </a:p>
        </p:txBody>
      </p:sp>
      <p:sp>
        <p:nvSpPr>
          <p:cNvPr id="291" name="Google Shape;291;g3ecd9d5b514_2_78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cd9d5b514_2_78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A1A1A"/>
                </a:solidFill>
                <a:latin typeface="Verdana"/>
              </a:rPr>
              <a:t>Remember the fusion taxonomy? BEV deep fusion is the 'MID' box — now the dominant research direction.</a:t>
            </a: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0">
                <a:solidFill>
                  <a:srgbClr val="8A8A8A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Act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Frontier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3" name="Google Shape;283;g3ecd9d5b514_2_7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Learned Filters &amp; End-to-End Driving</a:t>
            </a:r>
            <a:endParaRPr/>
          </a:p>
        </p:txBody>
      </p:sp>
      <p:sp>
        <p:nvSpPr>
          <p:cNvPr id="284" name="Google Shape;284;g3ecd9d5b514_2_7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8</a:t>
            </a:r>
            <a:endParaRPr/>
          </a:p>
        </p:txBody>
      </p:sp>
      <p:sp>
        <p:nvSpPr>
          <p:cNvPr id="285" name="Google Shape;285;g3ecd9d5b514_2_78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The same 'replace hand-tuning with learning' pressure reaches estimation and control too.</a:t>
            </a:r>
            <a:endParaRPr/>
          </a:p>
        </p:txBody>
      </p:sp>
      <p:sp>
        <p:nvSpPr>
          <p:cNvPr id="286" name="Google Shape;286;g3ecd9d5b514_2_78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ESTIMATION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Learned filters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neural / differentiable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Learn the dynamics 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noise (Q, R) from 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instead of tuning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Keeps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The predict/correct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structure you know</a:t>
            </a:r>
          </a:p>
        </p:txBody>
      </p:sp>
      <p:sp>
        <p:nvSpPr>
          <p:cNvPr id="287" name="Google Shape;287;g3ecd9d5b514_2_78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cd9d5b514_2_78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CONTROL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End-to-end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pixels → controls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Idea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One network from raw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sensors to steering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Drops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The explicit pipeline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in between</a:t>
            </a:r>
          </a:p>
        </p:txBody>
      </p:sp>
      <p:sp>
        <p:nvSpPr>
          <p:cNvPr id="289" name="Google Shape;289;g3ecd9d5b514_2_78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d9d5b514_2_78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937B4F"/>
                </a:solidFill>
                <a:latin typeface="Verdana"/>
              </a:rPr>
              <a:t>WHY MODULAR LIVES</a:t>
            </a:r>
            <a:endParaRPr/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Accountability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937B4F"/>
                </a:solidFill>
                <a:latin typeface="Verdana"/>
              </a:rPr>
              <a:t>safety-critical reality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Tension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End-to-end wins 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clean-data accuracy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000" b="1">
                <a:solidFill>
                  <a:srgbClr val="6B6B6B"/>
                </a:solidFill>
                <a:latin typeface="Verdana"/>
              </a:rPr>
              <a:t>But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Modular stacks can 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verified and debugged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Verdana"/>
              </a:rPr>
              <a:t>— why they persist</a:t>
            </a:r>
          </a:p>
        </p:txBody>
      </p:sp>
      <p:sp>
        <p:nvSpPr>
          <p:cNvPr id="291" name="Google Shape;291;g3ecd9d5b514_2_78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cd9d5b514_2_78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A1A1A"/>
                </a:solidFill>
                <a:latin typeface="Verdana"/>
              </a:rPr>
              <a:t>The pendulum of the field: end-to-end accuracy versus modular accountability.</a:t>
            </a:r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0">
                <a:solidFill>
                  <a:srgbClr val="8A8A8A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0">
                <a:solidFill>
                  <a:srgbClr val="8A8A8A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Frontier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0" name="Google Shape;230;g3ecd9d5b514_4_7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Recap: A Stack You Built From Scratch</a:t>
            </a:r>
            <a:endParaRPr/>
          </a:p>
        </p:txBody>
      </p:sp>
      <p:sp>
        <p:nvSpPr>
          <p:cNvPr id="231" name="Google Shape;231;g3ecd9d5b514_4_77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B6B6B"/>
                </a:solidFill>
                <a:latin typeface="Verdana"/>
              </a:rPr>
              <a:t>9</a:t>
            </a:r>
            <a:endParaRPr/>
          </a:p>
        </p:txBody>
      </p:sp>
      <p:sp>
        <p:nvSpPr>
          <p:cNvPr id="232" name="Google Shape;232;g3ecd9d5b514_4_77"/>
          <p:cNvSpPr txBox="1"/>
          <p:nvPr/>
        </p:nvSpPr>
        <p:spPr>
          <a:xfrm>
            <a:off x="612648" y="15727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D2D2D"/>
                </a:solidFill>
                <a:latin typeface="Verdana"/>
              </a:rPr>
              <a:t>Five stages, five notebooks, one loop. Here’s the whole arc — and what you can now do at each stage.</a:t>
            </a:r>
            <a:endParaRPr/>
          </a:p>
        </p:txBody>
      </p:sp>
      <p:sp>
        <p:nvSpPr>
          <p:cNvPr id="233" name="Google Shape;233;g3ecd9d5b514_4_77"/>
          <p:cNvSpPr/>
          <p:nvPr/>
        </p:nvSpPr>
        <p:spPr>
          <a:xfrm>
            <a:off x="612648" y="2331720"/>
            <a:ext cx="2106777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6B6B6B"/>
                </a:solidFill>
                <a:latin typeface="Verdana"/>
              </a:rPr>
              <a:t>4.2</a:t>
            </a:r>
            <a:endParaRPr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Sense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Detect per frame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(camera + lidar)</a:t>
            </a:r>
          </a:p>
        </p:txBody>
      </p:sp>
      <p:sp>
        <p:nvSpPr>
          <p:cNvPr id="234" name="Google Shape;234;g3ecd9d5b514_4_77"/>
          <p:cNvSpPr/>
          <p:nvPr/>
        </p:nvSpPr>
        <p:spPr>
          <a:xfrm>
            <a:off x="2829153" y="2331720"/>
            <a:ext cx="2106777" cy="2011680"/>
          </a:xfrm>
          <a:prstGeom prst="rect">
            <a:avLst/>
          </a:prstGeom>
          <a:solidFill>
            <a:srgbClr val="F6F1E6"/>
          </a:solidFill>
          <a:ln cap="flat" cmpd="sng" w="28575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6B6B6B"/>
                </a:solidFill>
                <a:latin typeface="Verdana"/>
              </a:rPr>
              <a:t>N1</a:t>
            </a:r>
            <a:endParaRPr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Fuse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Project sensors into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one coordinate frame</a:t>
            </a:r>
          </a:p>
        </p:txBody>
      </p:sp>
      <p:sp>
        <p:nvSpPr>
          <p:cNvPr id="235" name="Google Shape;235;g3ecd9d5b514_4_77"/>
          <p:cNvSpPr/>
          <p:nvPr/>
        </p:nvSpPr>
        <p:spPr>
          <a:xfrm>
            <a:off x="5045659" y="2331720"/>
            <a:ext cx="2106777" cy="2011680"/>
          </a:xfrm>
          <a:prstGeom prst="rect">
            <a:avLst/>
          </a:prstGeom>
          <a:solidFill>
            <a:srgbClr val="F6F1E6"/>
          </a:solidFill>
          <a:ln cap="flat" cmpd="sng" w="254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6B6B6B"/>
                </a:solidFill>
                <a:latin typeface="Verdana"/>
              </a:rPr>
              <a:t>N2</a:t>
            </a:r>
            <a:endParaRPr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Estimate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Kalman filtering — 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state that lives in time</a:t>
            </a:r>
          </a:p>
        </p:txBody>
      </p:sp>
      <p:sp>
        <p:nvSpPr>
          <p:cNvPr id="236" name="Google Shape;236;g3ecd9d5b514_4_77"/>
          <p:cNvSpPr/>
          <p:nvPr/>
        </p:nvSpPr>
        <p:spPr>
          <a:xfrm>
            <a:off x="7262164" y="2331720"/>
            <a:ext cx="2106777" cy="2011680"/>
          </a:xfrm>
          <a:prstGeom prst="rect">
            <a:avLst/>
          </a:prstGeom>
          <a:solidFill>
            <a:srgbClr val="F6F1E6"/>
          </a:solidFill>
          <a:ln cap="flat" cmpd="sng" w="28575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6B6B6B"/>
                </a:solidFill>
                <a:latin typeface="Verdana"/>
              </a:rPr>
              <a:t>N3</a:t>
            </a:r>
            <a:endParaRPr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Track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Many objects, kept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alive through occlusion</a:t>
            </a:r>
          </a:p>
        </p:txBody>
      </p:sp>
      <p:sp>
        <p:nvSpPr>
          <p:cNvPr id="237" name="Google Shape;237;g3ecd9d5b514_4_77"/>
          <p:cNvSpPr/>
          <p:nvPr/>
        </p:nvSpPr>
        <p:spPr>
          <a:xfrm>
            <a:off x="9478670" y="2331720"/>
            <a:ext cx="2106777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6B6B6B"/>
                </a:solidFill>
                <a:latin typeface="Verdana"/>
              </a:rPr>
              <a:t>N4 · N5</a:t>
            </a:r>
            <a:endParaRPr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Verdana"/>
              </a:rPr>
              <a:t>Act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Path tracking + safety,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D2D2D"/>
                </a:solidFill>
                <a:latin typeface="Verdana"/>
              </a:rPr>
              <a:t>closed loop on real data</a:t>
            </a:r>
          </a:p>
        </p:txBody>
      </p:sp>
      <p:sp>
        <p:nvSpPr>
          <p:cNvPr id="238" name="Google Shape;238;g3ecd9d5b514_4_77"/>
          <p:cNvSpPr txBox="1"/>
          <p:nvPr/>
        </p:nvSpPr>
        <p:spPr>
          <a:xfrm>
            <a:off x="609598" y="4617720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6B6B6B"/>
                </a:solidFill>
                <a:latin typeface="Verdana"/>
              </a:rPr>
              <a:t>You built a perception-to-control stack from scratch — now go break the simulator.</a:t>
            </a:r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612648" y="1280160"/>
            <a:ext cx="8412480" cy="2194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00" b="1">
                <a:solidFill>
                  <a:srgbClr val="937B4F"/>
                </a:solidFill>
                <a:latin typeface="Verdana"/>
              </a:rPr>
              <a:t>Sense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Fuse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Estimate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Track</a:t>
            </a:r>
            <a:r>
              <a:rPr sz="900">
                <a:solidFill>
                  <a:srgbClr val="C8C2B4"/>
                </a:solidFill>
                <a:latin typeface="Verdana"/>
              </a:rPr>
              <a:t>   ·   </a:t>
            </a:r>
            <a:r>
              <a:rPr sz="900" b="1">
                <a:solidFill>
                  <a:srgbClr val="937B4F"/>
                </a:solidFill>
                <a:latin typeface="Verdana"/>
              </a:rPr>
              <a:t>Act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025128" y="1261872"/>
            <a:ext cx="2560320" cy="2377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1">
                <a:solidFill>
                  <a:srgbClr val="937B4F"/>
                </a:solidFill>
                <a:latin typeface="Verdana"/>
              </a:rPr>
              <a:t>N1 – N5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12648" y="1481328"/>
            <a:ext cx="10972800" cy="10058"/>
          </a:xfrm>
          <a:prstGeom prst="rect">
            <a:avLst/>
          </a:prstGeom>
          <a:solidFill>
            <a:srgbClr val="D9D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2015-05-27T13:16:15Z</dcterms:created>
  <dc:creator>Melissa</dc:creator>
</cp:coreProperties>
</file>