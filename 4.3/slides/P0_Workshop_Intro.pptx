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1" r:id="rId1"/>
    <p:sldMasterId id="2147483682" r:id="rId2"/>
    <p:sldMasterId id="2147483683" r:id="rId3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20">
          <p15:clr>
            <a:srgbClr val="A4A3A4"/>
          </p15:clr>
        </p15:guide>
        <p15:guide id="2" orient="horz" pos="960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pos="456">
          <p15:clr>
            <a:srgbClr val="A4A3A4"/>
          </p15:clr>
        </p15:guide>
        <p15:guide id="5" pos="729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986AB58-C19E-4671-A385-79C732F880CD}">
  <a:tblStyle styleId="{E986AB58-C19E-4671-A385-79C732F880C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720"/>
        <p:guide orient="horz" pos="960"/>
        <p:guide orient="horz" pos="3888"/>
        <p:guide pos="456"/>
        <p:guide pos="729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203" name="Google Shape;2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cd9d5b514_4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3ecd9d5b514_4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cd9d5b514_4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g3ecd9d5b514_4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cd9d5b514_4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g3ecd9d5b514_4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cd9d5b514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ecd9d5b514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cd9d5b514_2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g3ecd9d5b514_2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cd9d5b514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3ecd9d5b514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t="26669" b="28271"/>
          <a:stretch/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" name="Google Shape;19;p2"/>
          <p:cNvSpPr txBox="1">
            <a:spLocks noGrp="1"/>
          </p:cNvSpPr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sz="4000" b="1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body" idx="1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Caption">
  <p:cSld name="PhotoCa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>
            <a:spLocks noGrp="1"/>
          </p:cNvSpPr>
          <p:nvPr>
            <p:ph type="pic" idx="2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3"/>
          <p:cNvSpPr txBox="1">
            <a:spLocks noGrp="1"/>
          </p:cNvSpPr>
          <p:nvPr>
            <p:ph type="body" idx="1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marL="1371600" lvl="2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marL="1828800" lvl="3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marL="2286000" lvl="4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sz="32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83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marL="1371600" lvl="2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" name="Google Shape;39;p5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w="15875" cap="flat" cmpd="sng">
            <a:solidFill>
              <a:srgbClr val="B5B5B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Red">
  <p:cSld name="BlankRed">
    <p:bg>
      <p:bgPr>
        <a:solidFill>
          <a:schemeClr val="lt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6"/>
          <p:cNvPicPr preferRelativeResize="0"/>
          <p:nvPr/>
        </p:nvPicPr>
        <p:blipFill rotWithShape="1">
          <a:blip r:embed="rId2">
            <a:alphaModFix amt="10000"/>
          </a:blip>
          <a:srcRect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algn="ctr" rotWithShape="0">
              <a:srgbClr val="000000"/>
            </a:outerShdw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7" descr="greyWatermark-20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sz="4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ubTitle" idx="1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7" name="Google Shape;4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2">
  <p:cSld name="Title2">
    <p:bg>
      <p:bgPr>
        <a:solidFill>
          <a:schemeClr val="lt2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8"/>
          <p:cNvPicPr preferRelativeResize="0"/>
          <p:nvPr/>
        </p:nvPicPr>
        <p:blipFill rotWithShape="1">
          <a:blip r:embed="rId2">
            <a:alphaModFix amt="10000"/>
          </a:blip>
          <a:srcRect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algn="ctr" rotWithShape="0">
              <a:srgbClr val="000000"/>
            </a:outerShdw>
          </a:effectLst>
        </p:spPr>
      </p:pic>
      <p:sp>
        <p:nvSpPr>
          <p:cNvPr id="50" name="Google Shape;50;p8"/>
          <p:cNvSpPr txBox="1">
            <a:spLocks noGrp="1"/>
          </p:cNvSpPr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sz="40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ubTitle" idx="1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1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2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marL="1371600" lvl="2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marL="1828800" lvl="3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marL="2286000" lvl="4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3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4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marL="1371600" lvl="2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marL="1828800" lvl="3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marL="2286000" lvl="4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 rotWithShape="1">
          <a:blip r:embed="rId2">
            <a:alphaModFix/>
          </a:blip>
          <a:srcRect t="26669" b="28271"/>
          <a:stretch/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7" name="Google Shape;87;p15"/>
          <p:cNvSpPr txBox="1">
            <a:spLocks noGrp="1"/>
          </p:cNvSpPr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sz="4000" b="1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body" idx="1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ftr" idx="11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Caption">
  <p:cSld name="PhotoCa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6"/>
          <p:cNvSpPr>
            <a:spLocks noGrp="1"/>
          </p:cNvSpPr>
          <p:nvPr>
            <p:ph type="pic" idx="2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6"/>
          <p:cNvSpPr txBox="1">
            <a:spLocks noGrp="1"/>
          </p:cNvSpPr>
          <p:nvPr>
            <p:ph type="body" idx="1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marL="1371600" lvl="2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marL="1828800" lvl="3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marL="2286000" lvl="4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sz="32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83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marL="1371600" lvl="2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7" name="Google Shape;107;p18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w="15875" cap="flat" cmpd="sng">
            <a:solidFill>
              <a:srgbClr val="B5B5B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8" name="Google Shape;108;p18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Red">
  <p:cSld name="BlankRed">
    <p:bg>
      <p:bgPr>
        <a:solidFill>
          <a:schemeClr val="lt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/>
          <p:cNvPicPr preferRelativeResize="0"/>
          <p:nvPr/>
        </p:nvPicPr>
        <p:blipFill rotWithShape="1">
          <a:blip r:embed="rId2">
            <a:alphaModFix amt="10000"/>
          </a:blip>
          <a:srcRect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algn="ctr" rotWithShape="0">
              <a:srgbClr val="000000"/>
            </a:outerShdw>
          </a:effectLst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0" descr="greyWatermark-20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 txBox="1">
            <a:spLocks noGrp="1"/>
          </p:cNvSpPr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sz="4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subTitle" idx="1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2">
  <p:cSld name="Title2">
    <p:bg>
      <p:bgPr>
        <a:solidFill>
          <a:schemeClr val="lt2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1"/>
          <p:cNvPicPr preferRelativeResize="0"/>
          <p:nvPr/>
        </p:nvPicPr>
        <p:blipFill rotWithShape="1">
          <a:blip r:embed="rId2">
            <a:alphaModFix amt="10000"/>
          </a:blip>
          <a:srcRect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algn="ctr" rotWithShape="0">
              <a:srgbClr val="000000"/>
            </a:outerShdw>
          </a:effectLst>
        </p:spPr>
      </p:pic>
      <p:sp>
        <p:nvSpPr>
          <p:cNvPr id="118" name="Google Shape;118;p21"/>
          <p:cNvSpPr txBox="1">
            <a:spLocks noGrp="1"/>
          </p:cNvSpPr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sz="40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subTitle" idx="1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1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body" idx="2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body" idx="1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2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marL="1371600" lvl="2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marL="1828800" lvl="3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marL="2286000" lvl="4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body" idx="3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4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marL="1371600" lvl="2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marL="1828800" lvl="3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marL="2286000" lvl="4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6"/>
          <p:cNvPicPr preferRelativeResize="0"/>
          <p:nvPr/>
        </p:nvPicPr>
        <p:blipFill rotWithShape="1">
          <a:blip r:embed="rId2">
            <a:alphaModFix/>
          </a:blip>
          <a:srcRect t="26669" b="28271"/>
          <a:stretch/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6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7" name="Google Shape;147;p26"/>
          <p:cNvSpPr txBox="1">
            <a:spLocks noGrp="1"/>
          </p:cNvSpPr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sz="4000" b="1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6"/>
          <p:cNvSpPr txBox="1">
            <a:spLocks noGrp="1"/>
          </p:cNvSpPr>
          <p:nvPr>
            <p:ph type="body" idx="1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26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26"/>
          <p:cNvSpPr txBox="1">
            <a:spLocks noGrp="1"/>
          </p:cNvSpPr>
          <p:nvPr>
            <p:ph type="ftr" idx="11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27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7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28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Caption">
  <p:cSld name="PhotoCaption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9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29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9"/>
          <p:cNvSpPr>
            <a:spLocks noGrp="1"/>
          </p:cNvSpPr>
          <p:nvPr>
            <p:ph type="pic" idx="2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29"/>
          <p:cNvSpPr txBox="1">
            <a:spLocks noGrp="1"/>
          </p:cNvSpPr>
          <p:nvPr>
            <p:ph type="body" idx="1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marL="1371600" lvl="2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marL="1828800" lvl="3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marL="2286000" lvl="4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sz="32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0"/>
          <p:cNvSpPr txBox="1">
            <a:spLocks noGrp="1"/>
          </p:cNvSpPr>
          <p:nvPr>
            <p:ph type="body" idx="1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83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marL="1371600" lvl="2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69" name="Google Shape;169;p30"/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70" name="Google Shape;170;p30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1" name="Google Shape;171;p30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w="15875" cap="flat" cmpd="sng">
            <a:solidFill>
              <a:srgbClr val="B5B5B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30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Red">
  <p:cSld name="BlankRed">
    <p:bg>
      <p:bgPr>
        <a:solidFill>
          <a:schemeClr val="lt2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1"/>
          <p:cNvPicPr preferRelativeResize="0"/>
          <p:nvPr/>
        </p:nvPicPr>
        <p:blipFill rotWithShape="1">
          <a:blip r:embed="rId2">
            <a:alphaModFix amt="10000"/>
          </a:blip>
          <a:srcRect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algn="ctr" rotWithShape="0">
              <a:srgbClr val="000000"/>
            </a:outerShdw>
          </a:effectLst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2" descr="greyWatermark-20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2"/>
          <p:cNvSpPr txBox="1">
            <a:spLocks noGrp="1"/>
          </p:cNvSpPr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sz="4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2"/>
          <p:cNvSpPr txBox="1">
            <a:spLocks noGrp="1"/>
          </p:cNvSpPr>
          <p:nvPr>
            <p:ph type="subTitle" idx="1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179" name="Google Shape;17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2">
  <p:cSld name="Title2">
    <p:bg>
      <p:bgPr>
        <a:solidFill>
          <a:schemeClr val="lt2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3"/>
          <p:cNvPicPr preferRelativeResize="0"/>
          <p:nvPr/>
        </p:nvPicPr>
        <p:blipFill rotWithShape="1">
          <a:blip r:embed="rId2">
            <a:alphaModFix amt="10000"/>
          </a:blip>
          <a:srcRect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algn="ctr" rotWithShape="0">
              <a:srgbClr val="000000"/>
            </a:outerShdw>
          </a:effectLst>
        </p:spPr>
      </p:pic>
      <p:sp>
        <p:nvSpPr>
          <p:cNvPr id="182" name="Google Shape;182;p33"/>
          <p:cNvSpPr txBox="1">
            <a:spLocks noGrp="1"/>
          </p:cNvSpPr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sz="40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33"/>
          <p:cNvSpPr txBox="1">
            <a:spLocks noGrp="1"/>
          </p:cNvSpPr>
          <p:nvPr>
            <p:ph type="subTitle" idx="1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34"/>
          <p:cNvSpPr txBox="1">
            <a:spLocks noGrp="1"/>
          </p:cNvSpPr>
          <p:nvPr>
            <p:ph type="body" idx="1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87" name="Google Shape;187;p34"/>
          <p:cNvSpPr txBox="1">
            <a:spLocks noGrp="1"/>
          </p:cNvSpPr>
          <p:nvPr>
            <p:ph type="body" idx="2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88" name="Google Shape;188;p34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34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5"/>
          <p:cNvSpPr txBox="1">
            <a:spLocks noGrp="1"/>
          </p:cNvSpPr>
          <p:nvPr>
            <p:ph type="body" idx="1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3" name="Google Shape;193;p35"/>
          <p:cNvSpPr txBox="1">
            <a:spLocks noGrp="1"/>
          </p:cNvSpPr>
          <p:nvPr>
            <p:ph type="body" idx="2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marL="1371600" lvl="2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marL="1828800" lvl="3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marL="2286000" lvl="4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94" name="Google Shape;194;p35"/>
          <p:cNvSpPr txBox="1">
            <a:spLocks noGrp="1"/>
          </p:cNvSpPr>
          <p:nvPr>
            <p:ph type="body" idx="3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5" name="Google Shape;195;p35"/>
          <p:cNvSpPr txBox="1">
            <a:spLocks noGrp="1"/>
          </p:cNvSpPr>
          <p:nvPr>
            <p:ph type="body" idx="4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marL="1371600" lvl="2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marL="1828800" lvl="3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marL="2286000" lvl="4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96" name="Google Shape;196;p35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35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>
            <a:spLocks noGrp="1"/>
          </p:cNvSpPr>
          <p:nvPr>
            <p:ph type="sldNum" idx="12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36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sz="3200" b="1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sz="3200" b="1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3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sz="3200" b="1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25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2" name="Google Shape;142;p25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5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>
            <a:spLocks noGrp="1"/>
          </p:cNvSpPr>
          <p:nvPr>
            <p:ph type="title"/>
          </p:nvPr>
        </p:nvSpPr>
        <p:spPr>
          <a:xfrm>
            <a:off x="611868" y="1447800"/>
            <a:ext cx="9422946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</a:pPr>
            <a:r>
              <a:rPr lang="en-US"/>
              <a:t>NAIRR – Sensor Fusion, Estimation, and AI </a:t>
            </a:r>
            <a:endParaRPr/>
          </a:p>
        </p:txBody>
      </p:sp>
      <p:sp>
        <p:nvSpPr>
          <p:cNvPr id="207" name="Google Shape;207;p37"/>
          <p:cNvSpPr txBox="1">
            <a:spLocks noGrp="1"/>
          </p:cNvSpPr>
          <p:nvPr>
            <p:ph type="body" idx="1"/>
          </p:nvPr>
        </p:nvSpPr>
        <p:spPr>
          <a:xfrm>
            <a:off x="625475" y="312420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From separate detections to one estimate </a:t>
            </a:r>
            <a:endParaRPr dirty="0"/>
          </a:p>
        </p:txBody>
      </p:sp>
      <p:sp>
        <p:nvSpPr>
          <p:cNvPr id="208" name="Google Shape;208;p37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209" name="Google Shape;209;p37"/>
          <p:cNvSpPr txBox="1">
            <a:spLocks noGrp="1"/>
          </p:cNvSpPr>
          <p:nvPr>
            <p:ph type="ftr" idx="11"/>
          </p:nvPr>
        </p:nvSpPr>
        <p:spPr>
          <a:xfrm>
            <a:off x="279725" y="6432375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Workshop 4.3 · Companion to Workshop 4.2 </a:t>
            </a: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7F246E-0C34-3549-04DB-07943A1EA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208" y="4244353"/>
            <a:ext cx="4453128" cy="16038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The Through-Line</a:t>
            </a:r>
            <a:endParaRPr/>
          </a:p>
        </p:txBody>
      </p:sp>
      <p:sp>
        <p:nvSpPr>
          <p:cNvPr id="215" name="Google Shape;215;p38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Workshop 4.2 gave you separate, instantaneous detections.</a:t>
            </a:r>
            <a:endParaRPr/>
          </a:p>
          <a:p>
            <a:pPr marL="457200" lvl="0" indent="-3429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Workshop 4.3 turns noisy sensor streams into one confident estimate of the world</a:t>
            </a:r>
            <a:r>
              <a:rPr lang="en-US" sz="1800">
                <a:solidFill>
                  <a:srgbClr val="1A1A1A"/>
                </a:solidFill>
              </a:rPr>
              <a:t>.</a:t>
            </a:r>
            <a:endParaRPr/>
          </a:p>
          <a:p>
            <a:pPr marL="457200" lvl="0" indent="-3429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429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500" b="1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Three threads from Workshop 4.2 we </a:t>
            </a:r>
            <a:r>
              <a:rPr lang="en-US" sz="1500" b="1">
                <a:solidFill>
                  <a:srgbClr val="1A1A1A"/>
                </a:solidFill>
              </a:rPr>
              <a:t>are going to build on </a:t>
            </a:r>
            <a:r>
              <a:rPr lang="en-US" sz="1500" b="1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today:</a:t>
            </a:r>
            <a:endParaRPr/>
          </a:p>
          <a:p>
            <a:pPr marL="914400" lvl="1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─"/>
            </a:pPr>
            <a:r>
              <a:rPr lang="en-US" sz="1600" b="1">
                <a:solidFill>
                  <a:srgbClr val="1A1A1A"/>
                </a:solidFill>
              </a:rPr>
              <a:t>Fusion</a:t>
            </a:r>
            <a:r>
              <a:rPr lang="en-US" sz="1600">
                <a:solidFill>
                  <a:srgbClr val="2D2D2D"/>
                </a:solidFill>
              </a:rPr>
              <a:t> — sensors in a common coordinate frame</a:t>
            </a:r>
            <a:endParaRPr sz="1600" b="1">
              <a:solidFill>
                <a:srgbClr val="1A1A1A"/>
              </a:solidFill>
            </a:endParaRPr>
          </a:p>
          <a:p>
            <a:pPr marL="914400" lvl="1" indent="-3429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</a:pPr>
            <a:r>
              <a:rPr lang="en-US" sz="1600" b="1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Tracking</a:t>
            </a:r>
            <a:r>
              <a:rPr lang="en-US" sz="1600" b="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— objects across frames</a:t>
            </a:r>
            <a:endParaRPr/>
          </a:p>
          <a:p>
            <a:pPr marL="914400" lvl="1" indent="-3429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</a:pPr>
            <a:r>
              <a:rPr lang="en-US" sz="1600" b="1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Control</a:t>
            </a:r>
            <a:r>
              <a:rPr lang="en-US" sz="1600" b="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— beyond rule-based or RL</a:t>
            </a:r>
            <a:endParaRPr/>
          </a:p>
          <a:p>
            <a:pPr marL="457200" lvl="0" indent="-3429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600" b="0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429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300" i="1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A perception stack that doesn't remember, doesn't fuse, and doesn't connect to control is a demo. Today turns the demo into a system.</a:t>
            </a:r>
            <a:endParaRPr/>
          </a:p>
        </p:txBody>
      </p:sp>
      <p:sp>
        <p:nvSpPr>
          <p:cNvPr id="216" name="Google Shape;216;p38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9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Today's Pipeline</a:t>
            </a:r>
            <a:endParaRPr/>
          </a:p>
        </p:txBody>
      </p:sp>
      <p:sp>
        <p:nvSpPr>
          <p:cNvPr id="222" name="Google Shape;222;p39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223" name="Google Shape;223;p39"/>
          <p:cNvSpPr txBox="1"/>
          <p:nvPr/>
        </p:nvSpPr>
        <p:spPr>
          <a:xfrm>
            <a:off x="612648" y="141732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Five stages: Sense → Fuse → Estimate → Track → Act. The first you built in Workshop 4.2. The other four are today.</a:t>
            </a:r>
            <a:endParaRPr/>
          </a:p>
        </p:txBody>
      </p:sp>
      <p:sp>
        <p:nvSpPr>
          <p:cNvPr id="224" name="Google Shape;224;p39"/>
          <p:cNvSpPr/>
          <p:nvPr/>
        </p:nvSpPr>
        <p:spPr>
          <a:xfrm>
            <a:off x="612648" y="2331720"/>
            <a:ext cx="2106777" cy="20116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164575" rIns="137150" bIns="1371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FROM 4.2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Sense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 i="0" u="none" strike="noStrike" cap="non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Camera and lidar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perception, per frame</a:t>
            </a:r>
            <a:endParaRPr/>
          </a:p>
        </p:txBody>
      </p:sp>
      <p:sp>
        <p:nvSpPr>
          <p:cNvPr id="225" name="Google Shape;225;p39"/>
          <p:cNvSpPr/>
          <p:nvPr/>
        </p:nvSpPr>
        <p:spPr>
          <a:xfrm>
            <a:off x="2829153" y="2331720"/>
            <a:ext cx="2106777" cy="2011680"/>
          </a:xfrm>
          <a:prstGeom prst="rect">
            <a:avLst/>
          </a:prstGeom>
          <a:solidFill>
            <a:srgbClr val="F6F1E6"/>
          </a:solidFill>
          <a:ln w="28575" cap="flat" cmpd="sng">
            <a:solidFill>
              <a:srgbClr val="937B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164575" rIns="137150" bIns="1371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L1 · L2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Fuse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 i="0" u="none" strike="noStrike" cap="non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Complementary sensors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in one coordinate frame</a:t>
            </a:r>
            <a:endParaRPr/>
          </a:p>
        </p:txBody>
      </p:sp>
      <p:sp>
        <p:nvSpPr>
          <p:cNvPr id="226" name="Google Shape;226;p39"/>
          <p:cNvSpPr/>
          <p:nvPr/>
        </p:nvSpPr>
        <p:spPr>
          <a:xfrm>
            <a:off x="5045659" y="2331720"/>
            <a:ext cx="2106777" cy="2011680"/>
          </a:xfrm>
          <a:prstGeom prst="rect">
            <a:avLst/>
          </a:prstGeom>
          <a:solidFill>
            <a:srgbClr val="F6F1E6"/>
          </a:solidFill>
          <a:ln w="25400" cap="flat" cmpd="sng">
            <a:solidFill>
              <a:srgbClr val="937B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164575" rIns="137150" bIns="1371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937B4F"/>
                </a:solidFill>
                <a:latin typeface="Verdana"/>
                <a:ea typeface="Verdana"/>
                <a:cs typeface="Verdana"/>
                <a:sym typeface="Verdana"/>
              </a:rPr>
              <a:t>L3 · L4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Estimate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 i="0" u="none" strike="noStrike" cap="non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A state estimate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that lives in time —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the heart of today</a:t>
            </a:r>
            <a:endParaRPr/>
          </a:p>
        </p:txBody>
      </p:sp>
      <p:sp>
        <p:nvSpPr>
          <p:cNvPr id="227" name="Google Shape;227;p39"/>
          <p:cNvSpPr/>
          <p:nvPr/>
        </p:nvSpPr>
        <p:spPr>
          <a:xfrm>
            <a:off x="7262164" y="2331720"/>
            <a:ext cx="2106777" cy="2011680"/>
          </a:xfrm>
          <a:prstGeom prst="rect">
            <a:avLst/>
          </a:prstGeom>
          <a:solidFill>
            <a:srgbClr val="F6F1E6"/>
          </a:solidFill>
          <a:ln w="28575" cap="flat" cmpd="sng">
            <a:solidFill>
              <a:srgbClr val="937B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164575" rIns="137150" bIns="1371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L5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Track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 i="0" u="none" strike="noStrike" cap="non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Multi-object persistence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across frames</a:t>
            </a:r>
            <a:endParaRPr/>
          </a:p>
        </p:txBody>
      </p:sp>
      <p:sp>
        <p:nvSpPr>
          <p:cNvPr id="228" name="Google Shape;228;p39"/>
          <p:cNvSpPr/>
          <p:nvPr/>
        </p:nvSpPr>
        <p:spPr>
          <a:xfrm>
            <a:off x="9478670" y="2331720"/>
            <a:ext cx="2106777" cy="20116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164575" rIns="137150" bIns="1371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L6 – L8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Act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 i="0" u="none" strike="noStrike" cap="non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Closed-loop control,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classical through learned</a:t>
            </a:r>
            <a:endParaRPr/>
          </a:p>
        </p:txBody>
      </p:sp>
      <p:sp>
        <p:nvSpPr>
          <p:cNvPr id="229" name="Google Shape;229;p39"/>
          <p:cNvSpPr txBox="1"/>
          <p:nvPr/>
        </p:nvSpPr>
        <p:spPr>
          <a:xfrm>
            <a:off x="609598" y="4617720"/>
            <a:ext cx="109728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We close with a brief look at the modern AI frontier — BEV deep fusion, learned filters, end-to-end driving.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0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Where We Stopped</a:t>
            </a:r>
            <a:endParaRPr/>
          </a:p>
        </p:txBody>
      </p:sp>
      <p:sp>
        <p:nvSpPr>
          <p:cNvPr id="235" name="Google Shape;235;p40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sp>
        <p:nvSpPr>
          <p:cNvPr id="236" name="Google Shape;236;p40"/>
          <p:cNvSpPr txBox="1"/>
          <p:nvPr/>
        </p:nvSpPr>
        <p:spPr>
          <a:xfrm>
            <a:off x="612648" y="1417320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In Workshop 4.2, the camera notebook ran YOLO on every frame independently. </a:t>
            </a:r>
            <a:r>
              <a:rPr lang="en-US" sz="1400" b="1" i="0" u="none" strike="noStrike" cap="non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The system had no memory.</a:t>
            </a:r>
            <a:endParaRPr/>
          </a:p>
        </p:txBody>
      </p:sp>
      <p:sp>
        <p:nvSpPr>
          <p:cNvPr id="237" name="Google Shape;237;p40"/>
          <p:cNvSpPr txBox="1"/>
          <p:nvPr/>
        </p:nvSpPr>
        <p:spPr>
          <a:xfrm>
            <a:off x="612648" y="4663440"/>
            <a:ext cx="109728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A detection is a noisy guess about one frame. Useful, but not enough to plan or control on.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What we need is an estimate</a:t>
            </a:r>
            <a:r>
              <a:rPr lang="en-US" sz="1300" i="1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300" b="0" i="1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a best guess plus uncertainty</a:t>
            </a:r>
            <a:r>
              <a:rPr lang="en-US" sz="1300" i="1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-US" sz="1300" b="0" i="1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that survives across frames.</a:t>
            </a:r>
            <a:endParaRPr/>
          </a:p>
        </p:txBody>
      </p:sp>
      <p:pic>
        <p:nvPicPr>
          <p:cNvPr id="238" name="Google Shape;238;p40"/>
          <p:cNvPicPr preferRelativeResize="0"/>
          <p:nvPr/>
        </p:nvPicPr>
        <p:blipFill rotWithShape="1">
          <a:blip r:embed="rId3">
            <a:alphaModFix/>
          </a:blip>
          <a:srcRect l="48409" t="1560" r="-134" b="-1560"/>
          <a:stretch/>
        </p:blipFill>
        <p:spPr>
          <a:xfrm>
            <a:off x="997850" y="2323363"/>
            <a:ext cx="3169149" cy="18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40"/>
          <p:cNvSpPr/>
          <p:nvPr/>
        </p:nvSpPr>
        <p:spPr>
          <a:xfrm>
            <a:off x="1133013" y="2439053"/>
            <a:ext cx="1005900" cy="246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0" rIns="5485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Frame t</a:t>
            </a:r>
            <a:endParaRPr/>
          </a:p>
        </p:txBody>
      </p:sp>
      <p:pic>
        <p:nvPicPr>
          <p:cNvPr id="240" name="Google Shape;240;p40"/>
          <p:cNvPicPr preferRelativeResize="0"/>
          <p:nvPr/>
        </p:nvPicPr>
        <p:blipFill rotWithShape="1">
          <a:blip r:embed="rId4">
            <a:alphaModFix/>
          </a:blip>
          <a:srcRect l="48570"/>
          <a:stretch/>
        </p:blipFill>
        <p:spPr>
          <a:xfrm>
            <a:off x="4440050" y="2323500"/>
            <a:ext cx="3151050" cy="18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0"/>
          <p:cNvSpPr/>
          <p:nvPr/>
        </p:nvSpPr>
        <p:spPr>
          <a:xfrm>
            <a:off x="4548841" y="2439040"/>
            <a:ext cx="1005900" cy="246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0" rIns="5485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Frame t+1</a:t>
            </a:r>
            <a:endParaRPr/>
          </a:p>
        </p:txBody>
      </p:sp>
      <p:pic>
        <p:nvPicPr>
          <p:cNvPr id="242" name="Google Shape;242;p40"/>
          <p:cNvPicPr preferRelativeResize="0"/>
          <p:nvPr/>
        </p:nvPicPr>
        <p:blipFill rotWithShape="1">
          <a:blip r:embed="rId5">
            <a:alphaModFix/>
          </a:blip>
          <a:srcRect l="47291"/>
          <a:stretch/>
        </p:blipFill>
        <p:spPr>
          <a:xfrm>
            <a:off x="7964675" y="2323500"/>
            <a:ext cx="3229473" cy="18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0"/>
          <p:cNvSpPr/>
          <p:nvPr/>
        </p:nvSpPr>
        <p:spPr>
          <a:xfrm>
            <a:off x="8099844" y="2439040"/>
            <a:ext cx="1005900" cy="246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0" rIns="5485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Frame t+2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Why Fuse?</a:t>
            </a:r>
            <a:endParaRPr/>
          </a:p>
        </p:txBody>
      </p:sp>
      <p:sp>
        <p:nvSpPr>
          <p:cNvPr id="249" name="Google Shape;249;p41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endParaRPr/>
          </a:p>
        </p:txBody>
      </p:sp>
      <p:sp>
        <p:nvSpPr>
          <p:cNvPr id="250" name="Google Shape;250;p41"/>
          <p:cNvSpPr txBox="1"/>
          <p:nvPr/>
        </p:nvSpPr>
        <p:spPr>
          <a:xfrm>
            <a:off x="612648" y="141732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No single sensor sees everything. Camera, lidar, and radar measure different parts of the state </a:t>
            </a:r>
            <a:r>
              <a:rPr lang="en-US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14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fusion is about complementarity, not only redundancy</a:t>
            </a:r>
            <a:r>
              <a:rPr lang="en-US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/>
          </a:p>
        </p:txBody>
      </p:sp>
      <p:sp>
        <p:nvSpPr>
          <p:cNvPr id="251" name="Google Shape;251;p41"/>
          <p:cNvSpPr/>
          <p:nvPr/>
        </p:nvSpPr>
        <p:spPr>
          <a:xfrm>
            <a:off x="612648" y="2286000"/>
            <a:ext cx="3535680" cy="3291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256025" rIns="164575" bIns="164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Camera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937B4F"/>
                </a:solidFill>
                <a:latin typeface="Verdana"/>
                <a:ea typeface="Verdana"/>
                <a:cs typeface="Verdana"/>
                <a:sym typeface="Verdana"/>
              </a:rPr>
              <a:t>Semantics, color, texture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1" u="none" strike="noStrike" cap="none">
              <a:solidFill>
                <a:srgbClr val="937B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Strengths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Cheap and information-rich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Reads signs and brake lights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Mature, well-understood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Limits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No native depth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Weather and lighting weak</a:t>
            </a:r>
            <a:endParaRPr/>
          </a:p>
        </p:txBody>
      </p:sp>
      <p:sp>
        <p:nvSpPr>
          <p:cNvPr id="252" name="Google Shape;252;p41"/>
          <p:cNvSpPr/>
          <p:nvPr/>
        </p:nvSpPr>
        <p:spPr>
          <a:xfrm>
            <a:off x="61264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1"/>
          <p:cNvSpPr/>
          <p:nvPr/>
        </p:nvSpPr>
        <p:spPr>
          <a:xfrm>
            <a:off x="4331208" y="2286000"/>
            <a:ext cx="3535680" cy="3291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256025" rIns="164575" bIns="164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Lidar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937B4F"/>
                </a:solidFill>
                <a:latin typeface="Verdana"/>
                <a:ea typeface="Verdana"/>
                <a:cs typeface="Verdana"/>
                <a:sym typeface="Verdana"/>
              </a:rPr>
              <a:t>3D geometry, range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1" u="none" strike="noStrike" cap="none">
              <a:solidFill>
                <a:srgbClr val="937B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Strengths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Dark-robust, ambient-independent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Centimeter-accurate geometry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Direct 3D point cloud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Limits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No semantics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Sparse and expensive</a:t>
            </a:r>
            <a:endParaRPr/>
          </a:p>
        </p:txBody>
      </p:sp>
      <p:sp>
        <p:nvSpPr>
          <p:cNvPr id="254" name="Google Shape;254;p41"/>
          <p:cNvSpPr/>
          <p:nvPr/>
        </p:nvSpPr>
        <p:spPr>
          <a:xfrm>
            <a:off x="433120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1"/>
          <p:cNvSpPr/>
          <p:nvPr/>
        </p:nvSpPr>
        <p:spPr>
          <a:xfrm>
            <a:off x="8049768" y="2286000"/>
            <a:ext cx="3535680" cy="3291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256025" rIns="164575" bIns="164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Radar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937B4F"/>
                </a:solidFill>
                <a:latin typeface="Verdana"/>
                <a:ea typeface="Verdana"/>
                <a:cs typeface="Verdana"/>
                <a:sym typeface="Verdana"/>
              </a:rPr>
              <a:t>Velocity (Doppler)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1" u="none" strike="noStrike" cap="none">
              <a:solidFill>
                <a:srgbClr val="937B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Strengths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Direct velocity measurement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Most weather-robust of the three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Long range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Limits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Low resolution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Fuzzy shapes, not silhouettes</a:t>
            </a:r>
            <a:endParaRPr/>
          </a:p>
        </p:txBody>
      </p:sp>
      <p:sp>
        <p:nvSpPr>
          <p:cNvPr id="256" name="Google Shape;256;p41"/>
          <p:cNvSpPr/>
          <p:nvPr/>
        </p:nvSpPr>
        <p:spPr>
          <a:xfrm>
            <a:off x="804976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1"/>
          <p:cNvSpPr txBox="1"/>
          <p:nvPr/>
        </p:nvSpPr>
        <p:spPr>
          <a:xfrm>
            <a:off x="612648" y="5760720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1" u="none" strike="noStrike" cap="none">
                <a:solidFill>
                  <a:srgbClr val="937B4F"/>
                </a:solidFill>
                <a:latin typeface="Verdana"/>
                <a:ea typeface="Verdana"/>
                <a:cs typeface="Verdana"/>
                <a:sym typeface="Verdana"/>
              </a:rPr>
              <a:t>They measure different parts of the state. Fusion is about complementarity</a:t>
            </a:r>
            <a:r>
              <a:rPr lang="en-US" sz="1300" b="1" i="1">
                <a:solidFill>
                  <a:srgbClr val="937B4F"/>
                </a:solidFill>
                <a:latin typeface="Verdana"/>
                <a:ea typeface="Verdana"/>
                <a:cs typeface="Verdana"/>
                <a:sym typeface="Verdana"/>
              </a:rPr>
              <a:t> data</a:t>
            </a:r>
            <a:r>
              <a:rPr lang="en-US" sz="1300" b="1" i="1" u="none" strike="noStrike" cap="none">
                <a:solidFill>
                  <a:srgbClr val="937B4F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Fusion Taxonomy</a:t>
            </a:r>
            <a:endParaRPr/>
          </a:p>
        </p:txBody>
      </p:sp>
      <p:sp>
        <p:nvSpPr>
          <p:cNvPr id="263" name="Google Shape;263;p42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endParaRPr/>
          </a:p>
        </p:txBody>
      </p:sp>
      <p:sp>
        <p:nvSpPr>
          <p:cNvPr id="264" name="Google Shape;264;p42"/>
          <p:cNvSpPr txBox="1"/>
          <p:nvPr/>
        </p:nvSpPr>
        <p:spPr>
          <a:xfrm>
            <a:off x="612648" y="1417320"/>
            <a:ext cx="10972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Three places in the pipeline to combine sensor data</a:t>
            </a:r>
            <a:r>
              <a:rPr lang="en-US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-US" sz="14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each with its own tradeoff between accuracy and robustness.</a:t>
            </a:r>
            <a:endParaRPr/>
          </a:p>
        </p:txBody>
      </p:sp>
      <p:sp>
        <p:nvSpPr>
          <p:cNvPr id="265" name="Google Shape;265;p42"/>
          <p:cNvSpPr/>
          <p:nvPr/>
        </p:nvSpPr>
        <p:spPr>
          <a:xfrm>
            <a:off x="612648" y="2286000"/>
            <a:ext cx="3535680" cy="32461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256025" rIns="164575" bIns="164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937B4F"/>
                </a:solidFill>
                <a:latin typeface="Verdana"/>
                <a:ea typeface="Verdana"/>
                <a:cs typeface="Verdana"/>
                <a:sym typeface="Verdana"/>
              </a:rPr>
              <a:t>EARLY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Raw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Before detection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1" u="none" strike="noStrike" cap="none">
              <a:solidFill>
                <a:srgbClr val="6B6B6B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Example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Point painting: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lidar points colored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by camera pixels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Strength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Most information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preserved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Weakness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Brittle;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calibration-hungry</a:t>
            </a:r>
            <a:endParaRPr/>
          </a:p>
        </p:txBody>
      </p:sp>
      <p:sp>
        <p:nvSpPr>
          <p:cNvPr id="266" name="Google Shape;266;p42"/>
          <p:cNvSpPr/>
          <p:nvPr/>
        </p:nvSpPr>
        <p:spPr>
          <a:xfrm>
            <a:off x="61264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2"/>
          <p:cNvSpPr/>
          <p:nvPr/>
        </p:nvSpPr>
        <p:spPr>
          <a:xfrm>
            <a:off x="4331208" y="2286000"/>
            <a:ext cx="3535680" cy="32461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256025" rIns="164575" bIns="164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937B4F"/>
                </a:solidFill>
                <a:latin typeface="Verdana"/>
                <a:ea typeface="Verdana"/>
                <a:cs typeface="Verdana"/>
                <a:sym typeface="Verdana"/>
              </a:rPr>
              <a:t>MID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Features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Inside learned features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1" u="none" strike="noStrike" cap="none">
              <a:solidFill>
                <a:srgbClr val="6B6B6B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Example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BEV deep fusion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(modern stacks)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Strength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Best in deep models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Weakness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Hard to debug</a:t>
            </a:r>
            <a:endParaRPr/>
          </a:p>
        </p:txBody>
      </p:sp>
      <p:sp>
        <p:nvSpPr>
          <p:cNvPr id="268" name="Google Shape;268;p42"/>
          <p:cNvSpPr/>
          <p:nvPr/>
        </p:nvSpPr>
        <p:spPr>
          <a:xfrm>
            <a:off x="433120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2"/>
          <p:cNvSpPr/>
          <p:nvPr/>
        </p:nvSpPr>
        <p:spPr>
          <a:xfrm>
            <a:off x="8049768" y="2286000"/>
            <a:ext cx="3535680" cy="32461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256025" rIns="164575" bIns="164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937B4F"/>
                </a:solidFill>
                <a:latin typeface="Verdana"/>
                <a:ea typeface="Verdana"/>
                <a:cs typeface="Verdana"/>
                <a:sym typeface="Verdana"/>
              </a:rPr>
              <a:t>LATE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Objects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After per-sensor detection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1" u="none" strike="noStrike" cap="none">
              <a:solidFill>
                <a:srgbClr val="6B6B6B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Example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Track-level fusion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via Kalman filter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Strength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Modular;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failure-graceful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Weakness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Information lost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before fusion</a:t>
            </a:r>
            <a:endParaRPr/>
          </a:p>
        </p:txBody>
      </p:sp>
      <p:sp>
        <p:nvSpPr>
          <p:cNvPr id="270" name="Google Shape;270;p42"/>
          <p:cNvSpPr/>
          <p:nvPr/>
        </p:nvSpPr>
        <p:spPr>
          <a:xfrm>
            <a:off x="804976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2"/>
          <p:cNvSpPr/>
          <p:nvPr/>
        </p:nvSpPr>
        <p:spPr>
          <a:xfrm>
            <a:off x="612648" y="5669280"/>
            <a:ext cx="10972800" cy="640080"/>
          </a:xfrm>
          <a:prstGeom prst="rect">
            <a:avLst/>
          </a:prstGeom>
          <a:solidFill>
            <a:srgbClr val="F6F1E6"/>
          </a:solidFill>
          <a:ln w="12700" cap="flat" cmpd="sng">
            <a:solidFill>
              <a:srgbClr val="937B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28600" tIns="91425" rIns="2286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The tradeoff: </a:t>
            </a:r>
            <a:r>
              <a:rPr lang="en-US" sz="1200" b="0" i="0" u="none" strike="noStrike" cap="non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modular survives sensor dropout; end-to-end achieves higher accuracy on clean data. Production stacks tend toward late or hybrid; research papers tend toward early.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3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Calibration &amp; Time Sync</a:t>
            </a:r>
            <a:endParaRPr/>
          </a:p>
        </p:txBody>
      </p:sp>
      <p:sp>
        <p:nvSpPr>
          <p:cNvPr id="277" name="Google Shape;277;p43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endParaRPr/>
          </a:p>
        </p:txBody>
      </p:sp>
      <p:sp>
        <p:nvSpPr>
          <p:cNvPr id="278" name="Google Shape;278;p43"/>
          <p:cNvSpPr txBox="1"/>
          <p:nvPr/>
        </p:nvSpPr>
        <p:spPr>
          <a:xfrm>
            <a:off x="612648" y="14173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The most unglamorous prerequisite in the fusion stack. Skip it, and everything downstream is </a:t>
            </a:r>
            <a:r>
              <a:rPr lang="en-US" sz="1400" b="1" i="0" u="none" strike="noStrike" cap="non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silently wrong.</a:t>
            </a:r>
            <a:endParaRPr/>
          </a:p>
        </p:txBody>
      </p:sp>
      <p:sp>
        <p:nvSpPr>
          <p:cNvPr id="279" name="Google Shape;279;p43"/>
          <p:cNvSpPr/>
          <p:nvPr/>
        </p:nvSpPr>
        <p:spPr>
          <a:xfrm>
            <a:off x="612648" y="2210000"/>
            <a:ext cx="4400000" cy="1140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118850" rIns="13715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Frames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Each sensor measures in its own coordinate system. Fusion means transforming everything into one common frame.</a:t>
            </a:r>
            <a:endParaRPr/>
          </a:p>
        </p:txBody>
      </p:sp>
      <p:sp>
        <p:nvSpPr>
          <p:cNvPr id="280" name="Google Shape;280;p43"/>
          <p:cNvSpPr/>
          <p:nvPr/>
        </p:nvSpPr>
        <p:spPr>
          <a:xfrm>
            <a:off x="612648" y="3480000"/>
            <a:ext cx="4400000" cy="1140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118850" rIns="13715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Calibration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Intrinsic </a:t>
            </a:r>
            <a:r>
              <a:rPr lang="en-US" sz="10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— one sensor’s focal length and distortion.</a:t>
            </a:r>
            <a:endParaRPr sz="1000" b="0" i="0" u="none" strike="noStrike" cap="none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Extrinsic </a:t>
            </a:r>
            <a:r>
              <a:rPr lang="en-US" sz="10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— the transform between sensors.</a:t>
            </a:r>
            <a:endParaRPr/>
          </a:p>
        </p:txBody>
      </p:sp>
      <p:sp>
        <p:nvSpPr>
          <p:cNvPr id="281" name="Google Shape;281;p43"/>
          <p:cNvSpPr/>
          <p:nvPr/>
        </p:nvSpPr>
        <p:spPr>
          <a:xfrm>
            <a:off x="612648" y="4750000"/>
            <a:ext cx="4400000" cy="1140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118850" rIns="13715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Time sync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Sensors fire at different instants. Fuse a stale return with a fresh detection and you fuse two different worlds.</a:t>
            </a:r>
            <a:endParaRPr/>
          </a:p>
        </p:txBody>
      </p:sp>
      <p:sp>
        <p:nvSpPr>
          <p:cNvPr id="282" name="Google Shape;282;p43"/>
          <p:cNvSpPr txBox="1"/>
          <p:nvPr/>
        </p:nvSpPr>
        <p:spPr>
          <a:xfrm>
            <a:off x="5300000" y="2150000"/>
            <a:ext cx="628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Why one degree matters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Extrinsic angle error projected to ground position error</a:t>
            </a:r>
            <a:endParaRPr/>
          </a:p>
        </p:txBody>
      </p:sp>
      <p:graphicFrame>
        <p:nvGraphicFramePr>
          <p:cNvPr id="283" name="Google Shape;283;p43"/>
          <p:cNvGraphicFramePr/>
          <p:nvPr/>
        </p:nvGraphicFramePr>
        <p:xfrm>
          <a:off x="5300000" y="27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{E986AB58-C19E-4671-A385-79C732F880CD}</a:tableStyleId>
              </a:tblPr>
              <a:tblGrid>
                <a:gridCol w="20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Angular error</a:t>
                      </a:r>
                      <a:endParaRPr/>
                    </a:p>
                  </a:txBody>
                  <a:tcPr marL="73150" marR="73150" marT="45725" marB="45725" anchor="ctr">
                    <a:lnL w="9525" cap="flat" cmpd="sng">
                      <a:solidFill>
                        <a:srgbClr val="937B4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37B4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37B4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4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7B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Position error at 10 m</a:t>
                      </a:r>
                      <a:endParaRPr/>
                    </a:p>
                  </a:txBody>
                  <a:tcPr marL="73150" marR="73150" marT="45725" marB="45725" anchor="ctr">
                    <a:lnL w="9525" cap="flat" cmpd="sng">
                      <a:solidFill>
                        <a:srgbClr val="937B4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37B4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37B4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4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7B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at 20 m</a:t>
                      </a:r>
                      <a:endParaRPr/>
                    </a:p>
                  </a:txBody>
                  <a:tcPr marL="73150" marR="73150" marT="45725" marB="45725" anchor="ctr">
                    <a:lnL w="9525" cap="flat" cmpd="sng">
                      <a:solidFill>
                        <a:srgbClr val="937B4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37B4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37B4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4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7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A1A1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1°</a:t>
                      </a:r>
                      <a:endParaRPr/>
                    </a:p>
                  </a:txBody>
                  <a:tcPr marL="73150" marR="73150" marT="45725" marB="45725" anchor="ctr">
                    <a:lnL w="9525" cap="flat" cmpd="sng">
                      <a:solidFill>
                        <a:srgbClr val="D9D4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4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4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4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2D2D2D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~17 cm</a:t>
                      </a:r>
                      <a:endParaRPr/>
                    </a:p>
                  </a:txBody>
                  <a:tcPr marL="73150" marR="73150" marT="45725" marB="45725" anchor="ctr">
                    <a:lnL w="9525" cap="flat" cmpd="sng">
                      <a:solidFill>
                        <a:srgbClr val="D9D4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4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4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4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2D2D2D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~35 cm</a:t>
                      </a:r>
                      <a:endParaRPr/>
                    </a:p>
                  </a:txBody>
                  <a:tcPr marL="73150" marR="73150" marT="45725" marB="45725" anchor="ctr">
                    <a:lnL w="9525" cap="flat" cmpd="sng">
                      <a:solidFill>
                        <a:srgbClr val="D9D4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4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4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4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A1A1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2°</a:t>
                      </a:r>
                      <a:endParaRPr/>
                    </a:p>
                  </a:txBody>
                  <a:tcPr marL="73150" marR="73150" marT="45725" marB="45725" anchor="ctr">
                    <a:lnL w="9525" cap="flat" cmpd="sng">
                      <a:solidFill>
                        <a:srgbClr val="D9D4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4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4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37B4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2D2D2D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~35 cm</a:t>
                      </a:r>
                      <a:endParaRPr/>
                    </a:p>
                  </a:txBody>
                  <a:tcPr marL="73150" marR="73150" marT="45725" marB="45725" anchor="ctr">
                    <a:lnL w="9525" cap="flat" cmpd="sng">
                      <a:solidFill>
                        <a:srgbClr val="D9D4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4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4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37B4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2D2D2D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~70 cm</a:t>
                      </a:r>
                      <a:endParaRPr/>
                    </a:p>
                  </a:txBody>
                  <a:tcPr marL="73150" marR="73150" marT="45725" marB="45725" anchor="ctr">
                    <a:lnL w="9525" cap="flat" cmpd="sng">
                      <a:solidFill>
                        <a:srgbClr val="D9D4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4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4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37B4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A1A1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5°</a:t>
                      </a:r>
                      <a:endParaRPr/>
                    </a:p>
                  </a:txBody>
                  <a:tcPr marL="73150" marR="73150" marT="45725" marB="45725" anchor="ctr">
                    <a:lnL w="9525" cap="flat" cmpd="sng">
                      <a:solidFill>
                        <a:srgbClr val="937B4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37B4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37B4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37B4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A1A1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~87 cm</a:t>
                      </a:r>
                      <a:endParaRPr/>
                    </a:p>
                  </a:txBody>
                  <a:tcPr marL="73150" marR="73150" marT="45725" marB="45725" anchor="ctr">
                    <a:lnL w="9525" cap="flat" cmpd="sng">
                      <a:solidFill>
                        <a:srgbClr val="937B4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37B4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37B4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37B4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A1A1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~175 cm</a:t>
                      </a:r>
                      <a:endParaRPr/>
                    </a:p>
                  </a:txBody>
                  <a:tcPr marL="73150" marR="73150" marT="45725" marB="45725" anchor="ctr">
                    <a:lnL w="9525" cap="flat" cmpd="sng">
                      <a:solidFill>
                        <a:srgbClr val="937B4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37B4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37B4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37B4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4" name="Google Shape;284;p43"/>
          <p:cNvSpPr/>
          <p:nvPr/>
        </p:nvSpPr>
        <p:spPr>
          <a:xfrm>
            <a:off x="5300000" y="5030000"/>
            <a:ext cx="6280000" cy="780000"/>
          </a:xfrm>
          <a:prstGeom prst="rect">
            <a:avLst/>
          </a:prstGeom>
          <a:solidFill>
            <a:srgbClr val="F6F1E6"/>
          </a:solidFill>
          <a:ln w="25400" cap="flat" cmpd="sng">
            <a:solidFill>
              <a:srgbClr val="937B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91425" rIns="13715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937B4F"/>
                </a:solidFill>
                <a:latin typeface="Verdana"/>
                <a:ea typeface="Verdana"/>
                <a:cs typeface="Verdana"/>
                <a:sym typeface="Verdana"/>
              </a:rPr>
              <a:t>AND TIME COUNTS TOO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100 ms </a:t>
            </a:r>
            <a:r>
              <a:rPr lang="en-US" sz="13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of latency ≈ </a:t>
            </a:r>
            <a:r>
              <a:rPr lang="en-US" sz="1300" b="1" i="0" u="none" strike="noStrike" cap="non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3 m </a:t>
            </a:r>
            <a:r>
              <a:rPr lang="en-US" sz="1300" b="0" i="0" u="none" strike="noStrike" cap="non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of misalignment at highway speed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666</Words>
  <Application>Microsoft Office PowerPoint</Application>
  <PresentationFormat>Widescreen</PresentationFormat>
  <Paragraphs>167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Times New Roman</vt:lpstr>
      <vt:lpstr>Verdana</vt:lpstr>
      <vt:lpstr>WPI-White</vt:lpstr>
      <vt:lpstr>WPI-White</vt:lpstr>
      <vt:lpstr>WPI-White</vt:lpstr>
      <vt:lpstr>NAIRR – Sensor Fusion, Estimation, and AI </vt:lpstr>
      <vt:lpstr>The Through-Line</vt:lpstr>
      <vt:lpstr>Today's Pipeline</vt:lpstr>
      <vt:lpstr>Where We Stopped</vt:lpstr>
      <vt:lpstr>Why Fuse?</vt:lpstr>
      <vt:lpstr>Fusion Taxonomy</vt:lpstr>
      <vt:lpstr>Calibration &amp; Time Sync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Matt Horvath</cp:lastModifiedBy>
  <cp:revision>1</cp:revision>
  <dcterms:modified xsi:type="dcterms:W3CDTF">2026-06-13T15:05:51Z</dcterms:modified>
</cp:coreProperties>
</file>