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0" r:id="rId5"/>
    <p:sldMasterId id="2147483672" r:id="rId6"/>
  </p:sldMasterIdLst>
  <p:notesMasterIdLst>
    <p:notesMasterId r:id="rId7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720">
          <p15:clr>
            <a:srgbClr val="A4A3A4"/>
          </p15:clr>
        </p15:guide>
        <p15:guide id="2" orient="horz" pos="960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pos="456">
          <p15:clr>
            <a:srgbClr val="A4A3A4"/>
          </p15:clr>
        </p15:guide>
        <p15:guide id="5" pos="7296">
          <p15:clr>
            <a:srgbClr val="A4A3A4"/>
          </p15:clr>
        </p15:guide>
      </p15:sldGuideLst>
    </p:ext>
    <p:ext uri="{2D200454-40CA-4A62-9FC3-DE9A4176ACB9}">
      <p15:notes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r:id="rId17" roundtripDataSignature="AMtx7mhIHJkvAptTC/GWESTxnyggYrQG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720" orient="horz"/>
        <p:guide pos="960" orient="horz"/>
        <p:guide pos="3888" orient="horz"/>
        <p:guide pos="456"/>
        <p:guide pos="7296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9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3" name="Google Shape;20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Open the capstone by lowering the stakes on 'new material': there's almost none. This is INTEGRATION — every box is a notebook they already built. The novelty is the closed LOOP on real data, where small errors compound. Promise the payoff up front: a live demo where they tune knobs and watch the car thread real obstacles or clip one.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at each box and name the notebook: Sense+Fuse = N1, Estimate = N2, Track = N3, Act = N4. The new word is 'loop' — control changes the next frame's perception, so unlike the isolated notebooks, errors COMPOUND here. That's the whole reason estimation and a safety layer matter. Stress 'emergent': we don't script a crash; outcomes fall out of the knobs you set. 10 Hz, deterministic given a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honest about the modeling choice — students respect it. N3's REAL detections are mostly oncoming/parked traffic off to the sides; the recorded car drove a clear lane, so literally replaying them gives a boring demo. So we take the real SIZES (4.2x1.8x1.5 m straight from N3's clustering gates) and deliberately PLACE cars on the route. Crucial point: the ego doesn't get truth — it senses noisy detections and TRACKS them (reusing N3's tracker), then steers around the tracked estimate. That's why perception quality will matter in the blackout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Reassure them: nothing new — this is N2's Kalman filter, verbatim, run once per obstacle in the bird's-eye plane. State is position AND velocity even though the cars are static, because the filter doesn't know that — it estimates velocity from the noisy detections (and it'll read near zero). Predict with the constant-velocity F, correct with the position measurement z. One extra piece from N3: when there are several cars you must decide which detection updates which track — that's the Hungarian assignment with a 3 m gate. Coasting under dropout is the same predict-without-update trick — foreshadow the blackout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Analogy: imagine each obstacle gives off a 'wind' that pushes you sideways — stronger the closer and more head-on it is. Point at the figure: the obstacle in the forward corridor, the repulsion arrows, the resulting swerve. The ego steers with pure pursuit toward the path AND gets this sideways push; the sum makes it weave around and settle back. One knob: the gain. Keep the emergency brake as the backstop for the case it can't swerve in time (dead ahead). Note this is a REACTIVE method — no replanning — which is why it's cheap and runs every 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Decode the formula piece by piece. The sum is over obstacles in the corridor. sign(l_i): l is the lateral offset — if the car is on your left (l&gt;0) the minus-sign makes the bias negative = steer right, away from it. The two parenthesised factors are the weighting: (1 - f/f_max) means closer = stronger; (1 - |l|/c) means more head-on (small lateral) = stronger, edge-of-corridor = near zero so it fades smoothly. Then the punchline second line: the actual steer is just pursuit PLUS avoidance, clipped to the wheel limit. That superposition is the whole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Orient them to the view since it's the one they'll stare at in the demo: forward is UP, you (blue triangle) sit near the bottom so you can see a little behind, the gray ribbon is the route, red boxes are obstacles, the blue trail is where you've been. It deliberately matches N3's bird's-eye convention so the whole workshop shares one mental picture. Mention the trail toggle — it's great for seeing WHAT the controller did after the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heart of the session — spend real time here, live. The figure is the money shot: avoidance OFF the ego drives straight into a car (red X); ON it weaves through. Demo script: (1) start with avoidance ON, clean thread; (2) turn avoidance OFF -&gt; clip, to motivate why we built it; (3) back ON, then crank sensor noise or open a BLACKOUT window and watch it clip a car it can't see — that's the 'estimation quality gates safety' lesson made visceral; (4) push the avoidance gain too high and show oscillation. Then hand it to them: 'now you break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Land the plane. Restate the arc one last time — they personally built every stage, on real KITTI data, and wired it into a loop that drives. The meta-lesson is MODULARITY: each piece sat behind a clean interface, so you can swap the detector or the controller without touching the rest — exactly why production autonomy stacks are built this way and stay auditable. One forward-looking sentence: the frontier (end-to-end learned driving) replaces these hand-built boxes with one network — higher ceiling, but you lose the ability to inspect WHY it did something. Thank them; send them to the notebook to go break the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1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9" name="Google Shape;19;p11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1" name="Google Shape;21;p1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11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2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28" name="Google Shape;28;p12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4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37" name="Google Shape;37;p14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38" name="Google Shape;38;p1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9" name="Google Shape;39;p14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" name="Google Shape;40;p1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5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44" name="Google Shape;4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6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47" name="Google Shape;4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7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50" name="Google Shape;50;p17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8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55" name="Google Shape;55;p18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56" name="Google Shape;56;p18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" name="Google Shape;57;p18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62" name="Google Shape;62;p19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3" name="Google Shape;63;p19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1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9" name="Google Shape;69;p2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cd9d5b514_4_14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g3ecd9d5b514_4_14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g3ecd9d5b514_4_1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g3ecd9d5b514_4_1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g3ecd9d5b514_4_7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ecd9d5b514_4_7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88" name="Google Shape;88;g3ecd9d5b514_4_7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g3ecd9d5b514_4_7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0" name="Google Shape;90;g3ecd9d5b514_4_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g3ecd9d5b514_4_7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cd9d5b514_4_19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ecd9d5b514_4_1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" name="Google Shape;95;g3ecd9d5b514_4_1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cd9d5b514_4_2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ecd9d5b514_4_2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9" name="Google Shape;99;g3ecd9d5b514_4_2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ecd9d5b514_4_23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g3ecd9d5b514_4_23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cd9d5b514_4_29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ecd9d5b514_4_29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105" name="Google Shape;105;g3ecd9d5b514_4_29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106" name="Google Shape;106;g3ecd9d5b514_4_2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7" name="Google Shape;107;g3ecd9d5b514_4_29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g3ecd9d5b514_4_2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g3ecd9d5b514_4_36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112" name="Google Shape;112;g3ecd9d5b514_4_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g3ecd9d5b514_4_38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ecd9d5b514_4_38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115" name="Google Shape;115;g3ecd9d5b514_4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g3ecd9d5b514_4_43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118" name="Google Shape;118;g3ecd9d5b514_4_43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ecd9d5b514_4_43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cd9d5b514_4_4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g3ecd9d5b514_4_47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23" name="Google Shape;123;g3ecd9d5b514_4_47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24" name="Google Shape;124;g3ecd9d5b514_4_4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g3ecd9d5b514_4_4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cd9d5b514_4_5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ecd9d5b514_4_53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29" name="Google Shape;129;g3ecd9d5b514_4_53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30" name="Google Shape;130;g3ecd9d5b514_4_53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31" name="Google Shape;131;g3ecd9d5b514_4_53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32" name="Google Shape;132;g3ecd9d5b514_4_5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3" name="Google Shape;133;g3ecd9d5b514_4_5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cd9d5b514_4_6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g3ecd9d5b514_4_6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cd9d5b514_2_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g3ecd9d5b514_2_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g3ecd9d5b514_2_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g3ecd9d5b514_2_11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ecd9d5b514_2_1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51" name="Google Shape;151;g3ecd9d5b514_2_11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g3ecd9d5b514_2_11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g3ecd9d5b514_2_1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g3ecd9d5b514_2_11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cd9d5b514_2_18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g3ecd9d5b514_2_18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8" name="Google Shape;158;g3ecd9d5b514_2_18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g3ecd9d5b514_2_18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g3ecd9d5b514_2_18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cd9d5b514_2_24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g3ecd9d5b514_2_24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g3ecd9d5b514_2_2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g3ecd9d5b514_2_2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cd9d5b514_2_29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g3ecd9d5b514_2_29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169" name="Google Shape;169;g3ecd9d5b514_2_29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170" name="Google Shape;170;g3ecd9d5b514_2_2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1" name="Google Shape;171;g3ecd9d5b514_2_29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g3ecd9d5b514_2_2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g3ecd9d5b514_2_36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176" name="Google Shape;176;g3ecd9d5b514_2_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g3ecd9d5b514_2_38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g3ecd9d5b514_2_38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179" name="Google Shape;179;g3ecd9d5b514_2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g3ecd9d5b514_2_43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182" name="Google Shape;182;g3ecd9d5b514_2_43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g3ecd9d5b514_2_43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cd9d5b514_2_4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g3ecd9d5b514_2_47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87" name="Google Shape;187;g3ecd9d5b514_2_47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88" name="Google Shape;188;g3ecd9d5b514_2_4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9" name="Google Shape;189;g3ecd9d5b514_2_4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cd9d5b514_2_5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3ecd9d5b514_2_53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3" name="Google Shape;193;g3ecd9d5b514_2_53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94" name="Google Shape;194;g3ecd9d5b514_2_53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5" name="Google Shape;195;g3ecd9d5b514_2_53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96" name="Google Shape;196;g3ecd9d5b514_2_5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g3ecd9d5b514_2_5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cd9d5b514_2_6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g3ecd9d5b514_2_6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" name="Google Shape;13;p1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4" name="Google Shape;14;p1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cd9d5b514_4_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g3ecd9d5b514_4_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6" name="Google Shape;76;g3ecd9d5b514_4_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g3ecd9d5b514_4_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8" name="Google Shape;78;g3ecd9d5b514_4_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ecd9d5b514_4_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cd9d5b514_2_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9" name="Google Shape;139;g3ecd9d5b514_2_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0" name="Google Shape;140;g3ecd9d5b514_2_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g3ecd9d5b514_2_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42" name="Google Shape;142;g3ecd9d5b514_2_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ecd9d5b514_2_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"/>
          <p:cNvSpPr txBox="1"/>
          <p:nvPr>
            <p:ph type="title"/>
          </p:nvPr>
        </p:nvSpPr>
        <p:spPr>
          <a:xfrm>
            <a:off x="611868" y="1447800"/>
            <a:ext cx="9422946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r>
              <a:rPr>
                <a:latin typeface="Verdana"/>
              </a:rPr>
              <a:t>Capstone: Navigate the Real Scene</a:t>
            </a:r>
          </a:p>
        </p:txBody>
      </p:sp>
      <p:sp>
        <p:nvSpPr>
          <p:cNvPr id="207" name="Google Shape;207;p1"/>
          <p:cNvSpPr txBox="1"/>
          <p:nvPr>
            <p:ph idx="1" type="body"/>
          </p:nvPr>
        </p:nvSpPr>
        <p:spPr>
          <a:xfrm>
            <a:off x="625475" y="3124200"/>
            <a:ext cx="9144000" cy="5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r>
              <a:rPr>
                <a:latin typeface="Verdana"/>
              </a:rPr>
              <a:t>Every subsystem, one closed loop, real obstacles</a:t>
            </a:r>
          </a:p>
        </p:txBody>
      </p:sp>
      <p:sp>
        <p:nvSpPr>
          <p:cNvPr id="208" name="Google Shape;208;p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1"/>
          <p:cNvSpPr txBox="1"/>
          <p:nvPr>
            <p:ph idx="11" type="ftr"/>
          </p:nvPr>
        </p:nvSpPr>
        <p:spPr>
          <a:xfrm>
            <a:off x="279725" y="6432375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>
                <a:latin typeface="Verdana"/>
              </a:rPr>
              <a:t>Workshop N5 · Capstone · 30-Minute Lecture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One loop, every piece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N1 fuse → N2 estimate → N3 track → N4 act, wired into one running loop on the real KITTI drive.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No new theory — this is integration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Real ego route, real-derived obstacles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Emergent thread-or-clip outcomes</a:t>
            </a:r>
          </a:p>
        </p:txBody>
      </p:sp>
      <p:pic>
        <p:nvPicPr>
          <p:cNvPr id="4" name="Picture 3" descr="n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939423"/>
            <a:ext cx="6766559" cy="20764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The obstacles are real (in spirit)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N3 detects cars at realistic sizes; we place them on the route so the ego must thread them.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Car ≈ 4.2 × 1.8 × 1.5 m (from N3's clustering)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Perceived with noise, then tracked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Steer around the TRACKED positions</a:t>
            </a:r>
          </a:p>
        </p:txBody>
      </p:sp>
      <p:pic>
        <p:nvPicPr>
          <p:cNvPr id="4" name="Picture 3" descr="n5_co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16" y="1417320"/>
            <a:ext cx="323408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Tracking the obstacles: constant-velocity Kalman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The same N2 filter, one per obstacle, in the BEV plane.</a:t>
            </a:r>
          </a:p>
        </p:txBody>
      </p:sp>
      <p:pic>
        <p:nvPicPr>
          <p:cNvPr id="4" name="Picture 3" descr="eq_kal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203" y="2468880"/>
            <a:ext cx="6413673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State = position + velocity [x, y, vx, vy]</a:t>
            </a:r>
          </a:p>
          <a:p>
            <a:pPr>
              <a:spcAft>
                <a:spcPts val="700"/>
              </a:spcAft>
            </a:pPr>
            <a:r>
              <a:rPr sz="1400">
                <a:latin typeface="Verdana"/>
              </a:rPr>
              <a:t>•  Predict with F, correct with measurement z = [x, y]</a:t>
            </a:r>
          </a:p>
          <a:p>
            <a:pPr>
              <a:spcAft>
                <a:spcPts val="700"/>
              </a:spcAft>
            </a:pPr>
            <a:r>
              <a:rPr sz="1400">
                <a:latin typeface="Verdana"/>
              </a:rPr>
              <a:t>•  Hungarian assigns detections to tracks (gate 3 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Steering around: potential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Each obstacle in the corridor pushes the ego sideways; it weaves and re-centers.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One gain to tune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Pure-pursuit steer + repulsion bias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Emergency brake if dead-ahead</a:t>
            </a:r>
          </a:p>
        </p:txBody>
      </p:sp>
      <p:pic>
        <p:nvPicPr>
          <p:cNvPr id="4" name="Picture 3" descr="n5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883" y="1417320"/>
            <a:ext cx="449975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The repulsion field, in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Each obstacle in the corridor adds a signed steering bias.</a:t>
            </a:r>
          </a:p>
        </p:txBody>
      </p:sp>
      <p:pic>
        <p:nvPicPr>
          <p:cNvPr id="4" name="Picture 3" descr="eq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887" y="2468880"/>
            <a:ext cx="526630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sign(ℓ) pushes AWAY from the obstacle's side</a:t>
            </a:r>
          </a:p>
          <a:p>
            <a:pPr>
              <a:spcAft>
                <a:spcPts val="700"/>
              </a:spcAft>
            </a:pPr>
            <a:r>
              <a:rPr sz="1400">
                <a:latin typeface="Verdana"/>
              </a:rPr>
              <a:t>•  Weighted by closeness (f) and centering (ℓ)</a:t>
            </a:r>
          </a:p>
          <a:p>
            <a:pPr>
              <a:spcAft>
                <a:spcPts val="700"/>
              </a:spcAft>
            </a:pPr>
            <a:r>
              <a:rPr sz="1400">
                <a:latin typeface="Verdana"/>
              </a:rPr>
              <a:t>•  Total steer δ = pursuit + avoidance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The bird's-eye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Ego-relative — forward up, you near the bottom — exactly N3's BEV.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Green = road, red = obstacle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Tracked detections + a trajectory trail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The real, curved KITTI route</a:t>
            </a:r>
          </a:p>
        </p:txBody>
      </p:sp>
      <p:pic>
        <p:nvPicPr>
          <p:cNvPr id="4" name="Picture 3" descr="n5_b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762" y="1417320"/>
            <a:ext cx="410399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Live demo: tune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latin typeface="Verdana"/>
              </a:rPr>
              <a:t>Set the controls, render, watch it thread or clip.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Avoidance gain, lookahead, speed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Number of cars / layout seed</a:t>
            </a:r>
          </a:p>
          <a:p>
            <a:pPr>
              <a:spcAft>
                <a:spcPts val="700"/>
              </a:spcAft>
            </a:pPr>
            <a:r>
              <a:rPr sz="1500">
                <a:latin typeface="Verdana"/>
              </a:rPr>
              <a:t>•  Sensor noise / blackout</a:t>
            </a:r>
          </a:p>
        </p:txBody>
      </p:sp>
      <p:pic>
        <p:nvPicPr>
          <p:cNvPr id="4" name="Picture 3" descr="n5_offv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397" y="1417320"/>
            <a:ext cx="657472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What you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latin typeface="Verdana"/>
              </a:rPr>
              <a:t>A perception-to-control stack on real data — sense, fuse, estimate, track, act.</a:t>
            </a:r>
          </a:p>
          <a:p>
            <a:pPr>
              <a:spcAft>
                <a:spcPts val="700"/>
              </a:spcAft>
            </a:pPr>
            <a:r>
              <a:rPr sz="1600">
                <a:latin typeface="Verdana"/>
              </a:rPr>
              <a:t>•  Modular and auditable</a:t>
            </a:r>
          </a:p>
          <a:p>
            <a:pPr>
              <a:spcAft>
                <a:spcPts val="700"/>
              </a:spcAft>
            </a:pPr>
            <a:r>
              <a:rPr sz="1600">
                <a:latin typeface="Verdana"/>
              </a:rPr>
              <a:t>•  Each piece swappable behind a clean interface</a:t>
            </a:r>
          </a:p>
          <a:p>
            <a:pPr>
              <a:spcAft>
                <a:spcPts val="700"/>
              </a:spcAft>
            </a:pPr>
            <a:r>
              <a:rPr sz="1600">
                <a:latin typeface="Verdana"/>
              </a:rPr>
              <a:t>•  The frontier learns these pieces end-to-end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2015-05-27T13:16:15Z</dcterms:created>
  <dc:creator>Melissa</dc:creator>
</cp:coreProperties>
</file>