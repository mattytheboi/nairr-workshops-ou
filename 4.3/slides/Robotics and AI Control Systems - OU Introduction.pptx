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86AB58-C19E-4671-A385-79C732F880CD}">
  <a:tblStyle styleId="{E986AB58-C19E-4671-A385-79C732F880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d9d5b514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ecd9d5b514_4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d9d5b514_4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cd9d5b514_4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d9d5b514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cd9d5b514_4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d9d5b514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cd9d5b514_2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d9d5b514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cd9d5b514_2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cd9d5b514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cd9d5b514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5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0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15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p18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p21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2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p2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2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6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6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9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69" name="Google Shape;169;p30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1" name="Google Shape;171;p30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3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76" name="Google Shape;17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2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79" name="Google Shape;17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82" name="Google Shape;182;p3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7" name="Google Shape;187;p34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88" name="Google Shape;188;p3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35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4" name="Google Shape;194;p35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5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96" name="Google Shape;196;p35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35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36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5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NAIRR – Sensor Fusion, Estimation, and AI </a:t>
            </a:r>
            <a:endParaRPr/>
          </a:p>
        </p:txBody>
      </p:sp>
      <p:sp>
        <p:nvSpPr>
          <p:cNvPr id="207" name="Google Shape;207;p37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From separate detections to one estimate </a:t>
            </a:r>
            <a:endParaRPr/>
          </a:p>
        </p:txBody>
      </p:sp>
      <p:sp>
        <p:nvSpPr>
          <p:cNvPr id="208" name="Google Shape;208;p3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37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4.3 · Companion to Workshop 4.2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Through-Line</a:t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Workshop 4.2 gave you separate, instantaneous detections.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Workshop 4.3 turns noisy sensor streams into one confident estimate of the world</a:t>
            </a:r>
            <a:r>
              <a:rPr lang="en-US" sz="1800">
                <a:solidFill>
                  <a:srgbClr val="1A1A1A"/>
                </a:solidFill>
              </a:rPr>
              <a:t>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Three threads from Workshop 4.2 we </a:t>
            </a:r>
            <a:r>
              <a:rPr b="1" lang="en-US" sz="1500">
                <a:solidFill>
                  <a:srgbClr val="1A1A1A"/>
                </a:solidFill>
              </a:rPr>
              <a:t>are going to build on </a:t>
            </a: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today: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</a:rPr>
              <a:t>Fusion</a:t>
            </a:r>
            <a:r>
              <a:rPr lang="en-US" sz="1600">
                <a:solidFill>
                  <a:srgbClr val="2D2D2D"/>
                </a:solidFill>
              </a:rPr>
              <a:t> — sensors in a common coordinate frame</a:t>
            </a:r>
            <a:endParaRPr b="1" sz="1600">
              <a:solidFill>
                <a:srgbClr val="1A1A1A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Tracking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objects across frames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Control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beyond rule-based or RL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A perception stack that doesn't remember, doesn't fuse, and doesn't connect to control is a demo. Today turns the demo into a system.</a:t>
            </a:r>
            <a:endParaRPr/>
          </a:p>
        </p:txBody>
      </p:sp>
      <p:sp>
        <p:nvSpPr>
          <p:cNvPr id="216" name="Google Shape;216;p3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Today's Pipeline</a:t>
            </a:r>
            <a:endParaRPr/>
          </a:p>
        </p:txBody>
      </p:sp>
      <p:sp>
        <p:nvSpPr>
          <p:cNvPr id="222" name="Google Shape;222;p39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223" name="Google Shape;223;p39"/>
          <p:cNvSpPr txBox="1"/>
          <p:nvPr/>
        </p:nvSpPr>
        <p:spPr>
          <a:xfrm>
            <a:off x="612648" y="1417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Five stages: Sense → Fuse → Estimate → Track → Act. The first you built in Workshop 4.2. The other four are today.</a:t>
            </a:r>
            <a:endParaRPr/>
          </a:p>
        </p:txBody>
      </p:sp>
      <p:sp>
        <p:nvSpPr>
          <p:cNvPr id="224" name="Google Shape;224;p39"/>
          <p:cNvSpPr/>
          <p:nvPr/>
        </p:nvSpPr>
        <p:spPr>
          <a:xfrm>
            <a:off x="612648" y="2331720"/>
            <a:ext cx="2106777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FROM 4.2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Sense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Camera and lidar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perception, per frame</a:t>
            </a:r>
            <a:endParaRPr/>
          </a:p>
        </p:txBody>
      </p:sp>
      <p:sp>
        <p:nvSpPr>
          <p:cNvPr id="225" name="Google Shape;225;p39"/>
          <p:cNvSpPr/>
          <p:nvPr/>
        </p:nvSpPr>
        <p:spPr>
          <a:xfrm>
            <a:off x="2829153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8575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L1 · L2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Complementary sensors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 one coordinate frame</a:t>
            </a:r>
            <a:endParaRPr/>
          </a:p>
        </p:txBody>
      </p:sp>
      <p:sp>
        <p:nvSpPr>
          <p:cNvPr id="226" name="Google Shape;226;p39"/>
          <p:cNvSpPr/>
          <p:nvPr/>
        </p:nvSpPr>
        <p:spPr>
          <a:xfrm>
            <a:off x="5045659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54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L3 · L4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Estimate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state estimate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that lives in time 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the heart of today</a:t>
            </a:r>
            <a:endParaRPr/>
          </a:p>
        </p:txBody>
      </p:sp>
      <p:sp>
        <p:nvSpPr>
          <p:cNvPr id="227" name="Google Shape;227;p39"/>
          <p:cNvSpPr/>
          <p:nvPr/>
        </p:nvSpPr>
        <p:spPr>
          <a:xfrm>
            <a:off x="7262164" y="2331720"/>
            <a:ext cx="2106777" cy="2011680"/>
          </a:xfrm>
          <a:prstGeom prst="rect">
            <a:avLst/>
          </a:prstGeom>
          <a:solidFill>
            <a:srgbClr val="F6F1E6"/>
          </a:solidFill>
          <a:ln cap="flat" cmpd="sng" w="28575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Multi-object persistence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across frames</a:t>
            </a:r>
            <a:endParaRPr/>
          </a:p>
        </p:txBody>
      </p:sp>
      <p:sp>
        <p:nvSpPr>
          <p:cNvPr id="228" name="Google Shape;228;p39"/>
          <p:cNvSpPr/>
          <p:nvPr/>
        </p:nvSpPr>
        <p:spPr>
          <a:xfrm>
            <a:off x="9478670" y="2331720"/>
            <a:ext cx="2106777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L6 – L8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Closed-loop control,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classical through learned</a:t>
            </a:r>
            <a:endParaRPr/>
          </a:p>
        </p:txBody>
      </p:sp>
      <p:sp>
        <p:nvSpPr>
          <p:cNvPr id="229" name="Google Shape;229;p39"/>
          <p:cNvSpPr txBox="1"/>
          <p:nvPr/>
        </p:nvSpPr>
        <p:spPr>
          <a:xfrm>
            <a:off x="609598" y="4617720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 close with a brief look at the modern AI frontier — BEV deep fusion, learned filters, end-to-end driving.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Where We Stopped</a:t>
            </a:r>
            <a:endParaRPr/>
          </a:p>
        </p:txBody>
      </p:sp>
      <p:sp>
        <p:nvSpPr>
          <p:cNvPr id="235" name="Google Shape;235;p40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236" name="Google Shape;236;p40"/>
          <p:cNvSpPr txBox="1"/>
          <p:nvPr/>
        </p:nvSpPr>
        <p:spPr>
          <a:xfrm>
            <a:off x="612648" y="141732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 Workshop 4.2, the camera notebook ran YOLO on every frame independently.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system had no memory.</a:t>
            </a:r>
            <a:endParaRPr/>
          </a:p>
        </p:txBody>
      </p:sp>
      <p:sp>
        <p:nvSpPr>
          <p:cNvPr id="237" name="Google Shape;237;p40"/>
          <p:cNvSpPr txBox="1"/>
          <p:nvPr/>
        </p:nvSpPr>
        <p:spPr>
          <a:xfrm>
            <a:off x="612648" y="4663440"/>
            <a:ext cx="10972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detection is a noisy guess about one frame. Useful, but not enough to plan or control 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What we need is an estimate</a:t>
            </a:r>
            <a:r>
              <a:rPr i="1" lang="en-US" sz="13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1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a best guess plus uncertainty</a:t>
            </a:r>
            <a:r>
              <a:rPr i="1" lang="en-US" sz="13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b="0" i="1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that survives across frames.</a:t>
            </a:r>
            <a:endParaRPr/>
          </a:p>
        </p:txBody>
      </p:sp>
      <p:pic>
        <p:nvPicPr>
          <p:cNvPr id="238" name="Google Shape;238;p40"/>
          <p:cNvPicPr preferRelativeResize="0"/>
          <p:nvPr/>
        </p:nvPicPr>
        <p:blipFill rotWithShape="1">
          <a:blip r:embed="rId3">
            <a:alphaModFix/>
          </a:blip>
          <a:srcRect b="-1560" l="48409" r="-134" t="1560"/>
          <a:stretch/>
        </p:blipFill>
        <p:spPr>
          <a:xfrm>
            <a:off x="997850" y="2323363"/>
            <a:ext cx="3169149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0"/>
          <p:cNvSpPr/>
          <p:nvPr/>
        </p:nvSpPr>
        <p:spPr>
          <a:xfrm>
            <a:off x="1133013" y="2439053"/>
            <a:ext cx="1005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54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</a:t>
            </a:r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 rotWithShape="1">
          <a:blip r:embed="rId4">
            <a:alphaModFix/>
          </a:blip>
          <a:srcRect b="0" l="48570" r="0" t="0"/>
          <a:stretch/>
        </p:blipFill>
        <p:spPr>
          <a:xfrm>
            <a:off x="4440050" y="2323500"/>
            <a:ext cx="3151050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/>
          <p:nvPr/>
        </p:nvSpPr>
        <p:spPr>
          <a:xfrm>
            <a:off x="4548841" y="2439040"/>
            <a:ext cx="1005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54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t+1</a:t>
            </a:r>
            <a:endParaRPr/>
          </a:p>
        </p:txBody>
      </p:sp>
      <p:pic>
        <p:nvPicPr>
          <p:cNvPr id="242" name="Google Shape;242;p40"/>
          <p:cNvPicPr preferRelativeResize="0"/>
          <p:nvPr/>
        </p:nvPicPr>
        <p:blipFill rotWithShape="1">
          <a:blip r:embed="rId5">
            <a:alphaModFix/>
          </a:blip>
          <a:srcRect b="0" l="47291" r="0" t="0"/>
          <a:stretch/>
        </p:blipFill>
        <p:spPr>
          <a:xfrm>
            <a:off x="7964675" y="2323500"/>
            <a:ext cx="3229473" cy="18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/>
          <p:nvPr/>
        </p:nvSpPr>
        <p:spPr>
          <a:xfrm>
            <a:off x="8099844" y="2439040"/>
            <a:ext cx="1005900" cy="246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3150" spcFirstLastPara="1" rIns="54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 t+2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Why Fuse?</a:t>
            </a:r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</p:txBody>
      </p:sp>
      <p:sp>
        <p:nvSpPr>
          <p:cNvPr id="250" name="Google Shape;250;p41"/>
          <p:cNvSpPr txBox="1"/>
          <p:nvPr/>
        </p:nvSpPr>
        <p:spPr>
          <a:xfrm>
            <a:off x="612648" y="141732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single sensor sees everything. Camera, lidar, and radar measure different parts of the state 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fusion is about complementarity, not only redundancy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251" name="Google Shape;251;p41"/>
          <p:cNvSpPr/>
          <p:nvPr/>
        </p:nvSpPr>
        <p:spPr>
          <a:xfrm>
            <a:off x="612648" y="2286000"/>
            <a:ext cx="3535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Camera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Semantics, color, texture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Cheap and information-rich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Reads signs and brake lights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Mature, well-understood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native depth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Weather and lighting weak</a:t>
            </a: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4331208" y="2286000"/>
            <a:ext cx="3535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Lidar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3D geometry, range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Dark-robust, ambient-independent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Centimeter-accurate geometry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Direct 3D point cloud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No semantics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Sparse and expensive</a:t>
            </a: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8049768" y="2286000"/>
            <a:ext cx="353568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Radar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Velocity (Doppler)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937B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Direct velocity measurement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Most weather-robust of the three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Long range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Limits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Low resolution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Fuzzy shapes, not silhouettes</a:t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1"/>
          <p:cNvSpPr txBox="1"/>
          <p:nvPr/>
        </p:nvSpPr>
        <p:spPr>
          <a:xfrm>
            <a:off x="612648" y="576072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They measure different parts of the state. Fusion is about complementarity</a:t>
            </a:r>
            <a:r>
              <a:rPr b="1" i="1" lang="en-US" sz="1300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 data</a:t>
            </a:r>
            <a:r>
              <a:rPr b="1" i="1" lang="en-US" sz="13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Fusion Taxonomy</a:t>
            </a:r>
            <a:endParaRPr/>
          </a:p>
        </p:txBody>
      </p:sp>
      <p:sp>
        <p:nvSpPr>
          <p:cNvPr id="263" name="Google Shape;263;p42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</p:txBody>
      </p:sp>
      <p:sp>
        <p:nvSpPr>
          <p:cNvPr id="264" name="Google Shape;264;p42"/>
          <p:cNvSpPr txBox="1"/>
          <p:nvPr/>
        </p:nvSpPr>
        <p:spPr>
          <a:xfrm>
            <a:off x="612648" y="1417320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Three places in the pipeline to combine sensor data</a:t>
            </a:r>
            <a:r>
              <a:rPr lang="en-US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each with its own tradeoff between accuracy and robustness.</a:t>
            </a:r>
            <a:endParaRPr/>
          </a:p>
        </p:txBody>
      </p:sp>
      <p:sp>
        <p:nvSpPr>
          <p:cNvPr id="265" name="Google Shape;265;p42"/>
          <p:cNvSpPr/>
          <p:nvPr/>
        </p:nvSpPr>
        <p:spPr>
          <a:xfrm>
            <a:off x="61264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EARLY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Raw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Before detection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Point painting: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lidar points colored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by camera pixels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Most information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preserved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Brittle;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calibration-hungry</a:t>
            </a:r>
            <a:endParaRPr/>
          </a:p>
        </p:txBody>
      </p:sp>
      <p:sp>
        <p:nvSpPr>
          <p:cNvPr id="266" name="Google Shape;266;p42"/>
          <p:cNvSpPr/>
          <p:nvPr/>
        </p:nvSpPr>
        <p:spPr>
          <a:xfrm>
            <a:off x="61264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2"/>
          <p:cNvSpPr/>
          <p:nvPr/>
        </p:nvSpPr>
        <p:spPr>
          <a:xfrm>
            <a:off x="433120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MID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Features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Inside learned features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BEV deep fusion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(modern stacks)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Best in deep models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Hard to debug</a:t>
            </a:r>
            <a:endParaRPr/>
          </a:p>
        </p:txBody>
      </p:sp>
      <p:sp>
        <p:nvSpPr>
          <p:cNvPr id="268" name="Google Shape;268;p42"/>
          <p:cNvSpPr/>
          <p:nvPr/>
        </p:nvSpPr>
        <p:spPr>
          <a:xfrm>
            <a:off x="433120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/>
          <p:nvPr/>
        </p:nvSpPr>
        <p:spPr>
          <a:xfrm>
            <a:off x="8049768" y="2286000"/>
            <a:ext cx="35356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64575" lIns="201150" spcFirstLastPara="1" rIns="164575" wrap="square" tIns="25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LATE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Objects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After per-sensor detection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100" u="none" cap="none" strike="noStrike">
              <a:solidFill>
                <a:srgbClr val="6B6B6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Track-level fusion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via Kalman filter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Strength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Modular;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failure-graceful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Weakness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Information lost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before fusion</a:t>
            </a:r>
            <a:endParaRPr/>
          </a:p>
        </p:txBody>
      </p:sp>
      <p:sp>
        <p:nvSpPr>
          <p:cNvPr id="270" name="Google Shape;270;p42"/>
          <p:cNvSpPr/>
          <p:nvPr/>
        </p:nvSpPr>
        <p:spPr>
          <a:xfrm>
            <a:off x="8049768" y="2286000"/>
            <a:ext cx="3535680" cy="54864"/>
          </a:xfrm>
          <a:prstGeom prst="rect">
            <a:avLst/>
          </a:prstGeom>
          <a:solidFill>
            <a:srgbClr val="937B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2"/>
          <p:cNvSpPr/>
          <p:nvPr/>
        </p:nvSpPr>
        <p:spPr>
          <a:xfrm>
            <a:off x="612648" y="5669280"/>
            <a:ext cx="10972800" cy="640080"/>
          </a:xfrm>
          <a:prstGeom prst="rect">
            <a:avLst/>
          </a:prstGeom>
          <a:solidFill>
            <a:srgbClr val="F6F1E6"/>
          </a:solidFill>
          <a:ln cap="flat" cmpd="sng" w="127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2286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tradeoff: </a:t>
            </a:r>
            <a:r>
              <a:rPr b="0" i="0" lang="en-US" sz="12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modular survives sensor dropout; end-to-end achieves higher accuracy on clean data. Production stacks tend toward late or hybrid; research papers tend toward early.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Calibration &amp; Time Sync</a:t>
            </a:r>
            <a:endParaRPr/>
          </a:p>
        </p:txBody>
      </p:sp>
      <p:sp>
        <p:nvSpPr>
          <p:cNvPr id="277" name="Google Shape;277;p43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  <p:sp>
        <p:nvSpPr>
          <p:cNvPr id="278" name="Google Shape;278;p43"/>
          <p:cNvSpPr txBox="1"/>
          <p:nvPr/>
        </p:nvSpPr>
        <p:spPr>
          <a:xfrm>
            <a:off x="612648" y="14173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The most unglamorous prerequisite in the fusion stack. Skip it, and everything downstream is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silently wrong.</a:t>
            </a:r>
            <a:endParaRPr/>
          </a:p>
        </p:txBody>
      </p:sp>
      <p:sp>
        <p:nvSpPr>
          <p:cNvPr id="279" name="Google Shape;279;p43"/>
          <p:cNvSpPr/>
          <p:nvPr/>
        </p:nvSpPr>
        <p:spPr>
          <a:xfrm>
            <a:off x="612648" y="2210000"/>
            <a:ext cx="4400000" cy="11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Frames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Each sensor measures in its own coordinate system. Fusion means transforming everything into one common frame.</a:t>
            </a:r>
            <a:endParaRPr/>
          </a:p>
        </p:txBody>
      </p:sp>
      <p:sp>
        <p:nvSpPr>
          <p:cNvPr id="280" name="Google Shape;280;p43"/>
          <p:cNvSpPr/>
          <p:nvPr/>
        </p:nvSpPr>
        <p:spPr>
          <a:xfrm>
            <a:off x="612648" y="3480000"/>
            <a:ext cx="4400000" cy="11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Calibration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Intrinsic </a:t>
            </a: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— one sensor’s focal length and distortion.</a:t>
            </a:r>
            <a:endParaRPr b="0" i="0" sz="1000" u="none" cap="none" strike="noStrike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Extrinsic </a:t>
            </a: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— the transform between sensors.</a:t>
            </a:r>
            <a:endParaRPr/>
          </a:p>
        </p:txBody>
      </p:sp>
      <p:sp>
        <p:nvSpPr>
          <p:cNvPr id="281" name="Google Shape;281;p43"/>
          <p:cNvSpPr/>
          <p:nvPr/>
        </p:nvSpPr>
        <p:spPr>
          <a:xfrm>
            <a:off x="612648" y="4750000"/>
            <a:ext cx="4400000" cy="114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4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37150" spcFirstLastPara="1" rIns="13715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Time sync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Sensors fire at different instants. Fuse a stale return with a fresh detection and you fuse two different worlds.</a:t>
            </a:r>
            <a:endParaRPr/>
          </a:p>
        </p:txBody>
      </p:sp>
      <p:sp>
        <p:nvSpPr>
          <p:cNvPr id="282" name="Google Shape;282;p43"/>
          <p:cNvSpPr txBox="1"/>
          <p:nvPr/>
        </p:nvSpPr>
        <p:spPr>
          <a:xfrm>
            <a:off x="5300000" y="2150000"/>
            <a:ext cx="628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Why one degree matters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Extrinsic angle error projected to ground position error</a:t>
            </a:r>
            <a:endParaRPr/>
          </a:p>
        </p:txBody>
      </p:sp>
      <p:graphicFrame>
        <p:nvGraphicFramePr>
          <p:cNvPr id="283" name="Google Shape;283;p43"/>
          <p:cNvGraphicFramePr/>
          <p:nvPr/>
        </p:nvGraphicFramePr>
        <p:xfrm>
          <a:off x="5300000" y="27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{E986AB58-C19E-4671-A385-79C732F880CD}</a:tableStyleId>
              </a:tblPr>
              <a:tblGrid>
                <a:gridCol w="2092000"/>
                <a:gridCol w="2300000"/>
                <a:gridCol w="1888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Angular error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7B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Position error at 10 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7B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at 20 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7B4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1°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~17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~35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2°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~35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~70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4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5°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~87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1A1A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~175 cm</a:t>
                      </a:r>
                      <a:endParaRPr/>
                    </a:p>
                  </a:txBody>
                  <a:tcPr marT="45725" marB="45725" marR="73150" marL="73150" anchor="ctr">
                    <a:lnL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37B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1E6"/>
                    </a:solidFill>
                  </a:tcPr>
                </a:tc>
              </a:tr>
            </a:tbl>
          </a:graphicData>
        </a:graphic>
      </p:graphicFrame>
      <p:sp>
        <p:nvSpPr>
          <p:cNvPr id="284" name="Google Shape;284;p43"/>
          <p:cNvSpPr/>
          <p:nvPr/>
        </p:nvSpPr>
        <p:spPr>
          <a:xfrm>
            <a:off x="5300000" y="5030000"/>
            <a:ext cx="6280000" cy="780000"/>
          </a:xfrm>
          <a:prstGeom prst="rect">
            <a:avLst/>
          </a:prstGeom>
          <a:solidFill>
            <a:srgbClr val="F6F1E6"/>
          </a:solidFill>
          <a:ln cap="flat" cmpd="sng" w="25400">
            <a:solidFill>
              <a:srgbClr val="937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37B4F"/>
                </a:solidFill>
                <a:latin typeface="Verdana"/>
                <a:ea typeface="Verdana"/>
                <a:cs typeface="Verdana"/>
                <a:sym typeface="Verdana"/>
              </a:rPr>
              <a:t>AND TIME COUNTS TOO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100 ms </a:t>
            </a:r>
            <a:r>
              <a:rPr b="0" i="0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of latency ≈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3 m </a:t>
            </a:r>
            <a:r>
              <a:rPr b="0" i="0" lang="en-US" sz="1300" u="none" cap="none" strike="noStrike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of misalignment at highway speed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