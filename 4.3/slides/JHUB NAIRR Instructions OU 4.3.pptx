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20">
          <p15:clr>
            <a:srgbClr val="A4A3A4"/>
          </p15:clr>
        </p15:guide>
        <p15:guide id="2" orient="horz" pos="960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pos="456">
          <p15:clr>
            <a:srgbClr val="A4A3A4"/>
          </p15:clr>
        </p15:guide>
        <p15:guide id="5" pos="729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gB8pDSONNX3q3xS5GgQAkzntdk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66" y="318"/>
      </p:cViewPr>
      <p:guideLst>
        <p:guide orient="horz" pos="720"/>
        <p:guide orient="horz" pos="960"/>
        <p:guide orient="horz" pos="3888"/>
        <p:guide pos="456"/>
        <p:guide pos="729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41" name="Google Shape;1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9039B7D5-0A0C-96AF-92D0-98A5FC0DA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>
            <a:extLst>
              <a:ext uri="{FF2B5EF4-FFF2-40B4-BE49-F238E27FC236}">
                <a16:creationId xmlns:a16="http://schemas.microsoft.com/office/drawing/2014/main" id="{77F39F58-9A7F-A4B1-3E82-C60250D328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:notes">
            <a:extLst>
              <a:ext uri="{FF2B5EF4-FFF2-40B4-BE49-F238E27FC236}">
                <a16:creationId xmlns:a16="http://schemas.microsoft.com/office/drawing/2014/main" id="{4E0407AF-58BE-0CFC-3B07-2B3D8333D7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5611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1"/>
          <p:cNvPicPr preferRelativeResize="0"/>
          <p:nvPr userDrawn="1"/>
        </p:nvPicPr>
        <p:blipFill>
          <a:blip r:embed="rId2">
            <a:alphaModFix/>
          </a:blip>
          <a:srcRect t="26669" b="28271"/>
          <a:stretch>
            <a:fillRect/>
          </a:stretch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sz="4000" b="1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ftr" idx="11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Caption">
  <p:cSld name="PhotoCa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>
            <a:spLocks noGrp="1"/>
          </p:cNvSpPr>
          <p:nvPr>
            <p:ph type="pic" idx="2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1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marL="1371600" lvl="2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marL="1828800" lvl="3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marL="2286000" lvl="4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sz="32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83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marL="1371600" lvl="2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" name="Google Shape;39;p14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w="15875" cap="flat" cmpd="sng">
            <a:solidFill>
              <a:srgbClr val="B5B5B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14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Red">
  <p:cSld name="BlankRed">
    <p:bg>
      <p:bgPr>
        <a:solidFill>
          <a:schemeClr val="lt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50;p17">
            <a:extLst>
              <a:ext uri="{FF2B5EF4-FFF2-40B4-BE49-F238E27FC236}">
                <a16:creationId xmlns:a16="http://schemas.microsoft.com/office/drawing/2014/main" id="{8F79F7F1-9258-6186-B869-5085A9F5219B}"/>
              </a:ext>
            </a:extLst>
          </p:cNvPr>
          <p:cNvPicPr preferRelativeResize="0"/>
          <p:nvPr userDrawn="1"/>
        </p:nvPicPr>
        <p:blipFill>
          <a:blip r:embed="rId2">
            <a:alphaModFix amt="10000"/>
          </a:blip>
          <a:srcRect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dir="5400000" algn="ctr" rotWithShape="0">
              <a:srgbClr val="000000"/>
            </a:outerShdw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6" descr="greyWatermark-20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6"/>
          <p:cNvSpPr txBox="1">
            <a:spLocks noGrp="1"/>
          </p:cNvSpPr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sz="4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subTitle" idx="1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7" name="Google Shape;47;p16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2">
  <p:cSld name="Title2">
    <p:bg>
      <p:bgPr>
        <a:solidFill>
          <a:schemeClr val="tx2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7"/>
          <p:cNvPicPr preferRelativeResize="0"/>
          <p:nvPr userDrawn="1"/>
        </p:nvPicPr>
        <p:blipFill>
          <a:blip r:embed="rId2">
            <a:alphaModFix amt="10000"/>
          </a:blip>
          <a:srcRect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dir="5400000" algn="ctr" rotWithShape="0">
              <a:srgbClr val="000000"/>
            </a:outerShdw>
          </a:effectLst>
        </p:spPr>
      </p:pic>
      <p:sp>
        <p:nvSpPr>
          <p:cNvPr id="51" name="Google Shape;51;p17"/>
          <p:cNvSpPr txBox="1">
            <a:spLocks noGrp="1"/>
          </p:cNvSpPr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sz="4000" b="1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subTitle" idx="1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body" idx="1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2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1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body" idx="2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marL="1371600" lvl="2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marL="1828800" lvl="3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marL="2286000" lvl="4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3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4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marL="1371600" lvl="2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marL="1828800" lvl="3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marL="2286000" lvl="4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0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>
            <a:spLocks noGrp="1"/>
          </p:cNvSpPr>
          <p:nvPr>
            <p:ph type="sldNum" idx="12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sz="3200" b="1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02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302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302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302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0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" name="Google Shape;14;p10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dirty="0"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nairr250048.projects.jetstream-cloud.org/hub/user-redirect/git-pull?repo=https%3A%2F%2Fgithub.com%2FMattyTheBoi%2FNAIRR-Workshops-OU&amp;urlpath=lab%2Ftree%2FNAIRR-Workshops-OU%2F4.3%2F&amp;branch=mai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lt1"/>
          </a:fgClr>
          <a:bgClr>
            <a:schemeClr val="bg1"/>
          </a:bgClr>
        </a:patt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>
            <a:spLocks noGrp="1"/>
          </p:cNvSpPr>
          <p:nvPr>
            <p:ph type="title"/>
          </p:nvPr>
        </p:nvSpPr>
        <p:spPr>
          <a:xfrm>
            <a:off x="611868" y="1447800"/>
            <a:ext cx="9422946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JupyterHub NAIRR Instructions</a:t>
            </a:r>
            <a:endParaRPr/>
          </a:p>
        </p:txBody>
      </p:sp>
      <p:sp>
        <p:nvSpPr>
          <p:cNvPr id="145" name="Google Shape;145;p1"/>
          <p:cNvSpPr txBox="1">
            <a:spLocks noGrp="1"/>
          </p:cNvSpPr>
          <p:nvPr>
            <p:ph type="body" idx="1"/>
          </p:nvPr>
        </p:nvSpPr>
        <p:spPr>
          <a:xfrm>
            <a:off x="625475" y="312420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Workshop Lab Environments</a:t>
            </a:r>
            <a:endParaRPr/>
          </a:p>
        </p:txBody>
      </p:sp>
      <p:sp>
        <p:nvSpPr>
          <p:cNvPr id="146" name="Google Shape;146;p1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47" name="Google Shape;147;p1"/>
          <p:cNvSpPr txBox="1">
            <a:spLocks noGrp="1"/>
          </p:cNvSpPr>
          <p:nvPr>
            <p:ph type="ftr" idx="11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JupyterHub </a:t>
            </a:r>
            <a:endParaRPr/>
          </a:p>
        </p:txBody>
      </p:sp>
      <p:sp>
        <p:nvSpPr>
          <p:cNvPr id="154" name="Google Shape;154;p2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55" name="Google Shape;155;p2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" name="Google Shape;156;p2" descr="JupyterHub | Cuahsi.or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987" b="987"/>
          <a:stretch/>
        </p:blipFill>
        <p:spPr>
          <a:xfrm>
            <a:off x="609600" y="1524000"/>
            <a:ext cx="78232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"/>
          <p:cNvSpPr txBox="1">
            <a:spLocks noGrp="1"/>
          </p:cNvSpPr>
          <p:nvPr>
            <p:ph type="body" idx="1"/>
          </p:nvPr>
        </p:nvSpPr>
        <p:spPr>
          <a:xfrm>
            <a:off x="8737600" y="1524000"/>
            <a:ext cx="2844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Font typeface="Verdana"/>
              <a:buNone/>
            </a:pP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JupyterHub is a multi-user server designed to deliver Jupyter Notebooks to groups of users.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Verdana"/>
              <a:buNone/>
            </a:pP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It manages authentication and spawns individual notebook servers for each person.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Verdana"/>
              <a:buNone/>
            </a:pP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This provides a consistent computational environment without requiring users to install software locally.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Account Creation</a:t>
            </a:r>
            <a:endParaRPr/>
          </a:p>
        </p:txBody>
      </p:sp>
      <p:sp>
        <p:nvSpPr>
          <p:cNvPr id="163" name="Google Shape;163;p3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27432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For our current workshops, JupyterHub accounts use a universal password you can only receive during the workshop.</a:t>
            </a:r>
            <a:endParaRPr/>
          </a:p>
          <a:p>
            <a:pPr marL="274320" lvl="0" indent="-27432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Using this password you can login to our JupyterHub with any username but there are limited slots.</a:t>
            </a:r>
            <a:endParaRPr/>
          </a:p>
          <a:p>
            <a:pPr marL="594360" lvl="1" indent="-27432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-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The limit is 1 account per person.</a:t>
            </a:r>
            <a:endParaRPr/>
          </a:p>
          <a:p>
            <a:pPr marL="274320" lvl="0" indent="-27432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Future workshops will use your ACCESS login or Github/Gitlab account but for the moment, in the next couple of workshops, the universal password will be used.</a:t>
            </a:r>
            <a:endParaRPr/>
          </a:p>
          <a:p>
            <a:pPr marL="274320" lvl="0" indent="-27432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The password will be given after these slides.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4" name="Google Shape;164;p3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3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Lab Environments</a:t>
            </a:r>
            <a:endParaRPr/>
          </a:p>
        </p:txBody>
      </p:sp>
      <p:sp>
        <p:nvSpPr>
          <p:cNvPr id="172" name="Google Shape;172;p4"/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When you login into </a:t>
            </a:r>
            <a:r>
              <a:rPr lang="en-US" dirty="0" err="1">
                <a:latin typeface="Verdana"/>
                <a:ea typeface="Verdana"/>
                <a:cs typeface="Verdana"/>
                <a:sym typeface="Verdana"/>
              </a:rPr>
              <a:t>JupyterHub</a:t>
            </a: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 you'll will see either one or many virtual environments.</a:t>
            </a:r>
            <a:endParaRPr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The example on the side shows exactly one environment that is designed specifically for the 4.3 Sensor Fusion, Estimation, and Control workshop.</a:t>
            </a:r>
            <a:endParaRPr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Each  environment for these workshops are built with all the packages and specific version python.</a:t>
            </a:r>
            <a:endParaRPr dirty="0"/>
          </a:p>
        </p:txBody>
      </p:sp>
      <p:sp>
        <p:nvSpPr>
          <p:cNvPr id="173" name="Google Shape;173;p4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74" name="Google Shape;174;p4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B731EE-E2DD-C0D3-56E6-8E308415C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265" y="2433698"/>
            <a:ext cx="6392053" cy="9953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Starting a Server</a:t>
            </a:r>
            <a:endParaRPr/>
          </a:p>
        </p:txBody>
      </p:sp>
      <p:sp>
        <p:nvSpPr>
          <p:cNvPr id="180" name="Google Shape;180;p5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81" name="Google Shape;181;p5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2" name="Google Shape;182;p5" descr="A screenshot of a computer error&#10;&#10;AI-generated content may be incorrect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7703" r="11090"/>
          <a:stretch/>
        </p:blipFill>
        <p:spPr>
          <a:xfrm>
            <a:off x="609600" y="1524000"/>
            <a:ext cx="78232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5"/>
          <p:cNvSpPr txBox="1">
            <a:spLocks noGrp="1"/>
          </p:cNvSpPr>
          <p:nvPr>
            <p:ph type="body" idx="1"/>
          </p:nvPr>
        </p:nvSpPr>
        <p:spPr>
          <a:xfrm>
            <a:off x="8737600" y="1524000"/>
            <a:ext cx="2844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Starting a server will communicate with our Jetstream2 services to deploy a container to host a notebook environment.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On the side is the process and event log of this server creation.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Starting a Sever</a:t>
            </a:r>
            <a:endParaRPr/>
          </a:p>
        </p:txBody>
      </p:sp>
      <p:pic>
        <p:nvPicPr>
          <p:cNvPr id="189" name="Google Shape;189;p6" descr="A screenshot of a computer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59370" y="1524000"/>
            <a:ext cx="827326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Accessing our lab materials</a:t>
            </a:r>
            <a:endParaRPr/>
          </a:p>
        </p:txBody>
      </p:sp>
      <p:pic>
        <p:nvPicPr>
          <p:cNvPr id="197" name="Google Shape;197;p7" descr="A screenshot of a computer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523709" y="1865193"/>
            <a:ext cx="7058691" cy="396581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All enviorments have the nbgitpuller software installed which allows our us to easily clone any repository into our servers using a simple link.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Links will be provided after these slides but an example of what process look like is on the side.</a:t>
            </a:r>
            <a:endParaRPr/>
          </a:p>
        </p:txBody>
      </p:sp>
      <p:sp>
        <p:nvSpPr>
          <p:cNvPr id="199" name="Google Shape;199;p7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00" name="Google Shape;200;p7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CA5EC487-4967-9456-1094-27EC07F1B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>
            <a:extLst>
              <a:ext uri="{FF2B5EF4-FFF2-40B4-BE49-F238E27FC236}">
                <a16:creationId xmlns:a16="http://schemas.microsoft.com/office/drawing/2014/main" id="{D8153F0E-7CBF-2446-E7F1-C52012D55B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For 4.3</a:t>
            </a:r>
            <a:endParaRPr dirty="0"/>
          </a:p>
        </p:txBody>
      </p:sp>
      <p:sp>
        <p:nvSpPr>
          <p:cNvPr id="198" name="Google Shape;198;p7">
            <a:extLst>
              <a:ext uri="{FF2B5EF4-FFF2-40B4-BE49-F238E27FC236}">
                <a16:creationId xmlns:a16="http://schemas.microsoft.com/office/drawing/2014/main" id="{1813C8B5-8C21-A892-D9EB-F062471F99B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Once you have a server up, please click this link here. You should be redirected then to the server again but now have all the files and notebooks needed for today's workshop. </a:t>
            </a: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dirty="0"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Once loaded, you'll be dropped straight into the 4.3 workshop folder — open the N1 notebook to start.</a:t>
            </a:r>
            <a:endParaRPr dirty="0"/>
          </a:p>
        </p:txBody>
      </p:sp>
      <p:sp>
        <p:nvSpPr>
          <p:cNvPr id="199" name="Google Shape;199;p7">
            <a:extLst>
              <a:ext uri="{FF2B5EF4-FFF2-40B4-BE49-F238E27FC236}">
                <a16:creationId xmlns:a16="http://schemas.microsoft.com/office/drawing/2014/main" id="{BB037A47-1D95-28A0-F910-362C3E13C6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00" name="Google Shape;200;p7">
            <a:extLst>
              <a:ext uri="{FF2B5EF4-FFF2-40B4-BE49-F238E27FC236}">
                <a16:creationId xmlns:a16="http://schemas.microsoft.com/office/drawing/2014/main" id="{098547BD-AFFD-FA80-C01A-79EF973E04B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78892-67E2-A3CD-4141-0E4793931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2810" y="1524000"/>
            <a:ext cx="7399190" cy="1512276"/>
          </a:xfrm>
        </p:spPr>
        <p:txBody>
          <a:bodyPr>
            <a:normAutofit/>
          </a:bodyPr>
          <a:lstStyle/>
          <a:p>
            <a:r>
              <a:rPr lang="en-US" dirty="0">
                <a:hlinkClick r:id="rId3"/>
              </a:rPr>
              <a:t>Click me to pull in our code!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43C54D-F6A2-BB17-6088-06D999BA1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421" y="2420703"/>
            <a:ext cx="3859258" cy="322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53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 txBox="1"/>
          <p:nvPr/>
        </p:nvSpPr>
        <p:spPr>
          <a:xfrm>
            <a:off x="1387475" y="2590800"/>
            <a:ext cx="9422946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Live Demo</a:t>
            </a:r>
            <a:endParaRPr sz="3200" b="1" i="0" u="none" strike="noStrike" cap="none">
              <a:solidFill>
                <a:srgbClr val="26262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 txBox="1"/>
          <p:nvPr/>
        </p:nvSpPr>
        <p:spPr>
          <a:xfrm>
            <a:off x="1387475" y="2590800"/>
            <a:ext cx="9422946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Links, Passwords, &amp; Git Repository</a:t>
            </a:r>
            <a:endParaRPr sz="3200" b="1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365</Words>
  <Application>Microsoft Office PowerPoint</Application>
  <PresentationFormat>Widescreen</PresentationFormat>
  <Paragraphs>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Verdana</vt:lpstr>
      <vt:lpstr>WPI-White</vt:lpstr>
      <vt:lpstr>JupyterHub NAIRR Instructions</vt:lpstr>
      <vt:lpstr>JupyterHub </vt:lpstr>
      <vt:lpstr>Account Creation</vt:lpstr>
      <vt:lpstr>Lab Environments</vt:lpstr>
      <vt:lpstr>Starting a Server</vt:lpstr>
      <vt:lpstr>Starting a Sever</vt:lpstr>
      <vt:lpstr>Accessing our lab materials</vt:lpstr>
      <vt:lpstr>For 4.3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Melissa</dc:creator>
  <cp:lastModifiedBy>Matt Horvath</cp:lastModifiedBy>
  <cp:revision>5</cp:revision>
  <dcterms:created xsi:type="dcterms:W3CDTF">2015-05-27T13:16:15Z</dcterms:created>
  <dcterms:modified xsi:type="dcterms:W3CDTF">2026-06-12T22:52:05Z</dcterms:modified>
</cp:coreProperties>
</file>