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720">
          <p15:clr>
            <a:srgbClr val="A4A3A4"/>
          </p15:clr>
        </p15:guide>
        <p15:guide id="2" orient="horz" pos="96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56">
          <p15:clr>
            <a:srgbClr val="A4A3A4"/>
          </p15:clr>
        </p15:guide>
        <p15:guide id="5" pos="7296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21" roundtripDataSignature="AMtx7mi75sv+ydsFu34bw7Z9dUAYaChZ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720" orient="horz"/>
        <p:guide pos="960" orient="horz"/>
        <p:guide pos="3888" orient="horz"/>
        <p:guide pos="456"/>
        <p:guide pos="7296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cd9d5b514_4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g3ecd9d5b514_4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1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1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11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2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2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37" name="Google Shape;37;p14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8" name="Google Shape;38;p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4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5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44" name="Google Shape;4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6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47" name="Google Shape;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7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50" name="Google Shape;50;p17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56" name="Google Shape;56;p18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8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9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p19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2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cd9d5b514_4_1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ecd9d5b514_4_14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g3ecd9d5b514_4_14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ecd9d5b514_4_14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ecd9d5b514_4_7"/>
          <p:cNvPicPr preferRelativeResize="0"/>
          <p:nvPr/>
        </p:nvPicPr>
        <p:blipFill rotWithShape="1">
          <a:blip r:embed="rId2">
            <a:alphaModFix/>
          </a:blip>
          <a:srcRect b="28271" l="0" r="0" t="26669"/>
          <a:stretch/>
        </p:blipFill>
        <p:spPr>
          <a:xfrm>
            <a:off x="7692126" y="4229848"/>
            <a:ext cx="4154698" cy="187213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g3ecd9d5b514_4_7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8" name="Google Shape;88;g3ecd9d5b514_4_7"/>
          <p:cNvSpPr txBox="1"/>
          <p:nvPr>
            <p:ph type="title"/>
          </p:nvPr>
        </p:nvSpPr>
        <p:spPr>
          <a:xfrm>
            <a:off x="625475" y="1447800"/>
            <a:ext cx="9144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ecd9d5b514_4_7"/>
          <p:cNvSpPr txBox="1"/>
          <p:nvPr>
            <p:ph idx="1" type="body"/>
          </p:nvPr>
        </p:nvSpPr>
        <p:spPr>
          <a:xfrm>
            <a:off x="625475" y="3124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g3ecd9d5b514_4_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g3ecd9d5b514_4_7"/>
          <p:cNvSpPr txBox="1"/>
          <p:nvPr>
            <p:ph idx="11" type="ftr"/>
          </p:nvPr>
        </p:nvSpPr>
        <p:spPr>
          <a:xfrm>
            <a:off x="625475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cd9d5b514_4_1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ecd9d5b514_4_1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g3ecd9d5b514_4_1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Caption">
  <p:cSld name="PhotoCaptio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cd9d5b514_4_2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ecd9d5b514_4_2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g3ecd9d5b514_4_2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ecd9d5b514_4_23"/>
          <p:cNvSpPr/>
          <p:nvPr>
            <p:ph idx="2" type="pic"/>
          </p:nvPr>
        </p:nvSpPr>
        <p:spPr>
          <a:xfrm>
            <a:off x="609600" y="1524000"/>
            <a:ext cx="7823100" cy="46482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g3ecd9d5b514_4_23"/>
          <p:cNvSpPr txBox="1"/>
          <p:nvPr>
            <p:ph idx="1" type="body"/>
          </p:nvPr>
        </p:nvSpPr>
        <p:spPr>
          <a:xfrm>
            <a:off x="8737600" y="1524000"/>
            <a:ext cx="284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Verdana"/>
              <a:buNone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cd9d5b514_4_29"/>
          <p:cNvSpPr txBox="1"/>
          <p:nvPr>
            <p:ph type="title"/>
          </p:nvPr>
        </p:nvSpPr>
        <p:spPr>
          <a:xfrm>
            <a:off x="609600" y="76200"/>
            <a:ext cx="11074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ecd9d5b514_4_29"/>
          <p:cNvSpPr txBox="1"/>
          <p:nvPr>
            <p:ph idx="1" type="body"/>
          </p:nvPr>
        </p:nvSpPr>
        <p:spPr>
          <a:xfrm>
            <a:off x="4523709" y="1524001"/>
            <a:ext cx="70587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683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200"/>
              <a:buChar char="─"/>
              <a:defRPr sz="2200"/>
            </a:lvl2pPr>
            <a:lvl3pPr indent="-355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o"/>
              <a:defRPr sz="1800"/>
            </a:lvl4pPr>
            <a:lvl5pPr indent="-3429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g3ecd9d5b514_4_29"/>
          <p:cNvSpPr txBox="1"/>
          <p:nvPr>
            <p:ph idx="2" type="body"/>
          </p:nvPr>
        </p:nvSpPr>
        <p:spPr>
          <a:xfrm>
            <a:off x="591890" y="1524000"/>
            <a:ext cx="35649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06" name="Google Shape;106;g3ecd9d5b514_4_29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7" name="Google Shape;107;g3ecd9d5b514_4_29"/>
          <p:cNvCxnSpPr/>
          <p:nvPr/>
        </p:nvCxnSpPr>
        <p:spPr>
          <a:xfrm rot="5400000">
            <a:off x="2447156" y="3581143"/>
            <a:ext cx="3810000" cy="2100"/>
          </a:xfrm>
          <a:prstGeom prst="straightConnector1">
            <a:avLst/>
          </a:prstGeom>
          <a:noFill/>
          <a:ln cap="flat" cmpd="sng" w="15875">
            <a:solidFill>
              <a:srgbClr val="B5B5B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3ecd9d5b514_4_29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Red" showMasterSp="0">
  <p:cSld name="BlankRed"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g3ecd9d5b514_4_36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4009882" y="1342882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eyWatermark-20.png" id="112" name="Google Shape;112;g3ecd9d5b514_4_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49092" y="2703302"/>
            <a:ext cx="4242908" cy="415469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3ecd9d5b514_4_38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  <a:defRPr b="1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ecd9d5b514_4_38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2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115" name="Google Shape;115;g3ecd9d5b514_4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102893"/>
            <a:ext cx="3383439" cy="872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45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2" showMasterSp="0">
  <p:cSld name="Title2">
    <p:bg>
      <p:bgPr>
        <a:solidFill>
          <a:schemeClr val="lt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g3ecd9d5b514_4_43"/>
          <p:cNvPicPr preferRelativeResize="0"/>
          <p:nvPr/>
        </p:nvPicPr>
        <p:blipFill rotWithShape="1">
          <a:blip r:embed="rId2">
            <a:alphaModFix amt="10000"/>
          </a:blip>
          <a:srcRect b="0" l="0" r="0" t="0"/>
          <a:stretch/>
        </p:blipFill>
        <p:spPr>
          <a:xfrm>
            <a:off x="8019764" y="2702755"/>
            <a:ext cx="4172236" cy="4172236"/>
          </a:xfrm>
          <a:prstGeom prst="rect">
            <a:avLst/>
          </a:prstGeom>
          <a:noFill/>
          <a:ln>
            <a:noFill/>
          </a:ln>
          <a:effectLst>
            <a:outerShdw blurRad="50800" rotWithShape="0" algn="ctr">
              <a:srgbClr val="000000"/>
            </a:outerShdw>
          </a:effectLst>
        </p:spPr>
      </p:pic>
      <p:sp>
        <p:nvSpPr>
          <p:cNvPr id="118" name="Google Shape;118;g3ecd9d5b514_4_43"/>
          <p:cNvSpPr txBox="1"/>
          <p:nvPr>
            <p:ph type="ctrTitle"/>
          </p:nvPr>
        </p:nvSpPr>
        <p:spPr>
          <a:xfrm>
            <a:off x="609600" y="2537925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Verdana"/>
              <a:buNone/>
              <a:defRPr b="1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ecd9d5b514_4_43"/>
          <p:cNvSpPr txBox="1"/>
          <p:nvPr>
            <p:ph idx="1" type="subTitle"/>
          </p:nvPr>
        </p:nvSpPr>
        <p:spPr>
          <a:xfrm>
            <a:off x="609600" y="4293573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cd9d5b514_4_4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ecd9d5b514_4_47"/>
          <p:cNvSpPr txBox="1"/>
          <p:nvPr>
            <p:ph idx="1" type="body"/>
          </p:nvPr>
        </p:nvSpPr>
        <p:spPr>
          <a:xfrm>
            <a:off x="10160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3" name="Google Shape;123;g3ecd9d5b514_4_47"/>
          <p:cNvSpPr txBox="1"/>
          <p:nvPr>
            <p:ph idx="2" type="body"/>
          </p:nvPr>
        </p:nvSpPr>
        <p:spPr>
          <a:xfrm>
            <a:off x="6197600" y="1676400"/>
            <a:ext cx="4876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Char char="─"/>
              <a:defRPr sz="2000"/>
            </a:lvl2pPr>
            <a:lvl3pPr indent="-3429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o"/>
              <a:defRPr sz="1600"/>
            </a:lvl4pPr>
            <a:lvl5pPr indent="-3302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/>
        </p:txBody>
      </p:sp>
      <p:sp>
        <p:nvSpPr>
          <p:cNvPr id="124" name="Google Shape;124;g3ecd9d5b514_4_47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g3ecd9d5b514_4_47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cd9d5b514_4_5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ecd9d5b514_4_53"/>
          <p:cNvSpPr txBox="1"/>
          <p:nvPr>
            <p:ph idx="1" type="body"/>
          </p:nvPr>
        </p:nvSpPr>
        <p:spPr>
          <a:xfrm>
            <a:off x="10160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g3ecd9d5b514_4_53"/>
          <p:cNvSpPr txBox="1"/>
          <p:nvPr>
            <p:ph idx="2" type="body"/>
          </p:nvPr>
        </p:nvSpPr>
        <p:spPr>
          <a:xfrm>
            <a:off x="10160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0" name="Google Shape;130;g3ecd9d5b514_4_53"/>
          <p:cNvSpPr txBox="1"/>
          <p:nvPr>
            <p:ph idx="3" type="body"/>
          </p:nvPr>
        </p:nvSpPr>
        <p:spPr>
          <a:xfrm>
            <a:off x="6197600" y="1496736"/>
            <a:ext cx="487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1" sz="20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g3ecd9d5b514_4_53"/>
          <p:cNvSpPr txBox="1"/>
          <p:nvPr>
            <p:ph idx="4" type="body"/>
          </p:nvPr>
        </p:nvSpPr>
        <p:spPr>
          <a:xfrm>
            <a:off x="6197600" y="2216400"/>
            <a:ext cx="48768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2900" lvl="1" marL="9144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  <a:defRPr sz="1800"/>
            </a:lvl2pPr>
            <a:lvl3pPr indent="-330200" lvl="2" marL="13716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  <a:defRPr sz="1600"/>
            </a:lvl3pPr>
            <a:lvl4pPr indent="-317500" lvl="3" marL="18288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o"/>
              <a:defRPr sz="1400"/>
            </a:lvl4pPr>
            <a:lvl5pPr indent="-317500" lvl="4" marL="228600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132" name="Google Shape;132;g3ecd9d5b514_4_53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ecd9d5b514_4_53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cd9d5b514_4_61"/>
          <p:cNvSpPr txBox="1"/>
          <p:nvPr>
            <p:ph idx="12" type="sldNum"/>
          </p:nvPr>
        </p:nvSpPr>
        <p:spPr>
          <a:xfrm>
            <a:off x="1" y="6391657"/>
            <a:ext cx="612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ecd9d5b514_4_61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" name="Google Shape;14;p1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cd9d5b514_4_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200"/>
              <a:buFont typeface="Verdana"/>
              <a:buNone/>
              <a:defRPr b="1" i="0" sz="3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ecd9d5b514_4_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Verdana"/>
              <a:buChar char="─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urier New"/>
              <a:buChar char="o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76" name="Google Shape;76;g3ecd9d5b514_4_0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62626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g3ecd9d5b514_4_0"/>
          <p:cNvSpPr/>
          <p:nvPr/>
        </p:nvSpPr>
        <p:spPr>
          <a:xfrm>
            <a:off x="609600" y="1234967"/>
            <a:ext cx="11582400" cy="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g3ecd9d5b514_4_0"/>
          <p:cNvSpPr txBox="1"/>
          <p:nvPr/>
        </p:nvSpPr>
        <p:spPr>
          <a:xfrm>
            <a:off x="7315200" y="6400800"/>
            <a:ext cx="447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Oakland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ecd9d5b514_4_0"/>
          <p:cNvSpPr txBox="1"/>
          <p:nvPr>
            <p:ph idx="11" type="ftr"/>
          </p:nvPr>
        </p:nvSpPr>
        <p:spPr>
          <a:xfrm>
            <a:off x="609600" y="6400800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10" Type="http://schemas.openxmlformats.org/officeDocument/2006/relationships/image" Target="../media/image26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"/>
          <p:cNvSpPr txBox="1"/>
          <p:nvPr>
            <p:ph type="title"/>
          </p:nvPr>
        </p:nvSpPr>
        <p:spPr>
          <a:xfrm>
            <a:off x="611868" y="1447800"/>
            <a:ext cx="9422946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/>
              <a:t>Camera–LiDAR Projection &amp; Back-Projection</a:t>
            </a:r>
            <a:endParaRPr/>
          </a:p>
        </p:txBody>
      </p:sp>
      <p:sp>
        <p:nvSpPr>
          <p:cNvPr id="143" name="Google Shape;143;p1"/>
          <p:cNvSpPr txBox="1"/>
          <p:nvPr>
            <p:ph idx="1" type="body"/>
          </p:nvPr>
        </p:nvSpPr>
        <p:spPr>
          <a:xfrm>
            <a:off x="625475" y="3124200"/>
            <a:ext cx="9144000" cy="5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Mapping 3D point clouds into the image plane — and back</a:t>
            </a:r>
            <a:endParaRPr/>
          </a:p>
        </p:txBody>
      </p:sp>
      <p:sp>
        <p:nvSpPr>
          <p:cNvPr id="144" name="Google Shape;144;p1"/>
          <p:cNvSpPr txBox="1"/>
          <p:nvPr>
            <p:ph idx="12" type="sldNum"/>
          </p:nvPr>
        </p:nvSpPr>
        <p:spPr>
          <a:xfrm>
            <a:off x="1" y="6387664"/>
            <a:ext cx="6096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"/>
          <p:cNvSpPr txBox="1"/>
          <p:nvPr>
            <p:ph idx="11" type="ftr"/>
          </p:nvPr>
        </p:nvSpPr>
        <p:spPr>
          <a:xfrm>
            <a:off x="279725" y="6432375"/>
            <a:ext cx="6807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Workshop N1 · Sensor Fusion · 30-Minute Lecture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d9d5b514_4_71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Verdana"/>
              <a:buNone/>
            </a:pPr>
            <a:r>
              <a:rPr lang="en-US"/>
              <a:t>Camera–LiDAR Projection &amp; Back-Projection</a:t>
            </a:r>
            <a:endParaRPr/>
          </a:p>
        </p:txBody>
      </p:sp>
      <p:sp>
        <p:nvSpPr>
          <p:cNvPr id="151" name="Google Shape;151;g3ecd9d5b514_4_71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 camera sees everything but knows no distances. A LiDAR measures distances but sees almost nothing.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Projection is the bridge: a chain of matrices that maps any 3D LiDAR point onto its camera</a:t>
            </a:r>
            <a:r>
              <a:rPr lang="en-US" sz="1800">
                <a:solidFill>
                  <a:srgbClr val="1A1A1A"/>
                </a:solidFill>
              </a:rPr>
              <a:t> 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pixel</a:t>
            </a:r>
            <a:r>
              <a:rPr lang="en-US" sz="1800">
                <a:solidFill>
                  <a:srgbClr val="1A1A1A"/>
                </a:solidFill>
              </a:rPr>
              <a:t>,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 and, with one extra constraint, back again.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Three building blocks, then the applications: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coordinate frames, homogeneous transforms, the pinhole camera · slides 3–6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projection chain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KITTI’s calibration matrices and forward projection · slides 7–12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Back-projection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the ground-plane constraint, calibration sensitivity · slides 13–18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-US" sz="1300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No vision background needed — we keep it basic and focus on exactly what notebook N1 implements on a real KITTI drive.</a:t>
            </a:r>
            <a:endParaRPr/>
          </a:p>
        </p:txBody>
      </p:sp>
      <p:sp>
        <p:nvSpPr>
          <p:cNvPr id="152" name="Google Shape;152;g3ecd9d5b514_4_71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Geometry: Homogeneous Coordinates</a:t>
            </a:r>
            <a:endParaRPr/>
          </a:p>
        </p:txBody>
      </p:sp>
      <p:sp>
        <p:nvSpPr>
          <p:cNvPr id="158" name="Google Shape;158;p3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3D point is written in homogeneous form by appending a 1:</a:t>
            </a:r>
            <a:endParaRPr/>
          </a:p>
        </p:txBody>
      </p:sp>
      <p:pic>
        <p:nvPicPr>
          <p:cNvPr descr="hom_point.png" id="160" name="Google Shape;1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0834" y="2092848"/>
            <a:ext cx="26103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"/>
          <p:cNvSpPr txBox="1"/>
          <p:nvPr/>
        </p:nvSpPr>
        <p:spPr>
          <a:xfrm>
            <a:off x="502920" y="28803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 rigid-body transform moves a point between sensor frames — a rotation followed by a translation:</a:t>
            </a:r>
            <a:endParaRPr/>
          </a:p>
        </p:txBody>
      </p:sp>
      <p:pic>
        <p:nvPicPr>
          <p:cNvPr descr="rigid.png" id="162" name="Google Shape;16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384" y="3728178"/>
            <a:ext cx="2323200" cy="23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Stacking R and t into a single 4×4 matrix lets entire transform chains collapse into one multiplication:</a:t>
            </a:r>
            <a:endParaRPr/>
          </a:p>
        </p:txBody>
      </p:sp>
      <p:pic>
        <p:nvPicPr>
          <p:cNvPr descr="T44.png" id="164" name="Google Shape;16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5334" y="4797881"/>
            <a:ext cx="1521300" cy="6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31576" y="2203763"/>
            <a:ext cx="3262376" cy="328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Two Sensors, Two Geometries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dar_bev.png" id="172" name="Google Shape;17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2512" y="1618917"/>
            <a:ext cx="5029080" cy="296356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4"/>
          <p:cNvSpPr txBox="1"/>
          <p:nvPr/>
        </p:nvSpPr>
        <p:spPr>
          <a:xfrm>
            <a:off x="777240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camera flattens the world — both cars look adjacent; their depths are gone.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6382512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The LiDAR keeps the metric layout — 18 m and 35 m ahead — but samples sparsely.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Fusion needs a precise map between the two frames — that map is the projection chain.</a:t>
            </a:r>
            <a:endParaRPr/>
          </a:p>
        </p:txBody>
      </p:sp>
      <p:pic>
        <p:nvPicPr>
          <p:cNvPr id="176" name="Google Shape;17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275" y="1618900"/>
            <a:ext cx="5029101" cy="29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Pinhole Camera Model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Light passes through one point — the optical center. Similar triangles divide every coordinate by depth:</a:t>
            </a:r>
            <a:endParaRPr/>
          </a:p>
        </p:txBody>
      </p:sp>
      <p:pic>
        <p:nvPicPr>
          <p:cNvPr descr="similar.png"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533" y="2054418"/>
            <a:ext cx="2682900" cy="5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 txBox="1"/>
          <p:nvPr/>
        </p:nvSpPr>
        <p:spPr>
          <a:xfrm>
            <a:off x="502920" y="30175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 matrix form — intrinsics K times extrinsics [R | t], in homogeneous coordinates:</a:t>
            </a:r>
            <a:endParaRPr/>
          </a:p>
        </p:txBody>
      </p:sp>
      <p:pic>
        <p:nvPicPr>
          <p:cNvPr descr="full_proj.png" id="186" name="Google Shape;1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2233" y="3400000"/>
            <a:ext cx="222750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 txBox="1"/>
          <p:nvPr/>
        </p:nvSpPr>
        <p:spPr>
          <a:xfrm>
            <a:off x="502920" y="5120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Read s as the depth — dividing by it is exactly what erases distance from the image.</a:t>
            </a:r>
            <a:endParaRPr/>
          </a:p>
        </p:txBody>
      </p:sp>
      <p:pic>
        <p:nvPicPr>
          <p:cNvPr id="188" name="Google Shape;188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4824" y="2403587"/>
            <a:ext cx="4500250" cy="307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Intrinsic Matrix K</a:t>
            </a:r>
            <a:endParaRPr/>
          </a:p>
        </p:txBody>
      </p:sp>
      <p:sp>
        <p:nvSpPr>
          <p:cNvPr id="194" name="Google Shape;194;p6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K gathers the camera’s internal geometry — focal lengths and principal point — into one matrix:</a:t>
            </a:r>
            <a:endParaRPr/>
          </a:p>
        </p:txBody>
      </p:sp>
      <p:pic>
        <p:nvPicPr>
          <p:cNvPr descr="Kmat.png"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1234" y="1860000"/>
            <a:ext cx="1890000" cy="8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 txBox="1"/>
          <p:nvPr/>
        </p:nvSpPr>
        <p:spPr>
          <a:xfrm>
            <a:off x="502920" y="2743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Applying K after the perspective divide gives the pixel coordinates explicitly:</a:t>
            </a:r>
            <a:endParaRPr/>
          </a:p>
        </p:txBody>
      </p:sp>
      <p:pic>
        <p:nvPicPr>
          <p:cNvPr descr="uv_expanded.png" id="198" name="Google Shape;1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2784" y="3420863"/>
            <a:ext cx="3986400" cy="56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6"/>
          <p:cNvSpPr txBox="1"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fx and fy are focal lengths in pixels — they scale lateral offset per unit depth into pixels.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(cx, cy) is the principal point — roughly the image center, where the optical axis pierces the sensor. For KITTI’s camera 2: fx ≈ fy ≈ 720 px.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KITTI Transform Chain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To reach the image, a LiDAR point passes through two stages — each one a matrix from the calibration files: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777240" y="1874519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Extrinsics — frame to frame</a:t>
            </a:r>
            <a:endParaRPr/>
          </a:p>
        </p:txBody>
      </p:sp>
      <p:pic>
        <p:nvPicPr>
          <p:cNvPr descr="extr.png" id="209" name="Google Shape;2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6984" y="2494641"/>
            <a:ext cx="2838000" cy="3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777240" y="32918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Rectification + projection — frame to pixels</a:t>
            </a:r>
            <a:endParaRPr/>
          </a:p>
        </p:txBody>
      </p:sp>
      <p:pic>
        <p:nvPicPr>
          <p:cNvPr descr="rect_proj.png" id="211" name="Google Shape;2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9434" y="3888656"/>
            <a:ext cx="2333100" cy="34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Only valid for points in front of the camera — points behind it project to phantom pixels.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Frame conventions: Velodyne is X-forward, Y-left, Z-up; the camera is X-right, Y-down, Z-forward — the rotation in T handles the axis swap.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Combined Projection Matrix M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Multiplying the chain once gives a single 3×4 matrix that is applied to every point in the scan:</a:t>
            </a:r>
            <a:endParaRPr/>
          </a:p>
        </p:txBody>
      </p:sp>
      <p:pic>
        <p:nvPicPr>
          <p:cNvPr descr="Mdef.png" id="221" name="Google Shape;2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4034" y="2111723"/>
            <a:ext cx="3243900" cy="2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 txBox="1"/>
          <p:nvPr/>
        </p:nvSpPr>
        <p:spPr>
          <a:xfrm>
            <a:off x="502920" y="28346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Writing out its twelve elements — these mᵢⱼ are everything back-projection will need later:</a:t>
            </a:r>
            <a:endParaRPr/>
          </a:p>
        </p:txBody>
      </p:sp>
      <p:pic>
        <p:nvPicPr>
          <p:cNvPr descr="Mbig.png" id="223" name="Google Shape;2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54734" y="4369792"/>
            <a:ext cx="6682500" cy="99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What Projection Gives You — and Loses</a:t>
            </a:r>
            <a:endParaRPr/>
          </a:p>
        </p:txBody>
      </p:sp>
      <p:sp>
        <p:nvSpPr>
          <p:cNvPr id="229" name="Google Shape;229;p9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Forward projection hands every LiDAR point two things: a pixel (u, v) and its depth s.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The image alone keeps only (u, v). The depth was divided out — infinitely many 3D points</a:t>
            </a:r>
            <a:r>
              <a:rPr lang="en-US" sz="1800">
                <a:solidFill>
                  <a:srgbClr val="1A1A1A"/>
                </a:solidFill>
              </a:rPr>
              <a:t> 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along one ray land on the same pixel.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How to recover 3D from a pixel: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 second sensor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LiDAR or stereo supplies the missing depth directly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 geometric constraint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pin the point to a known plane, like the road surface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No constraint, no 3D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a lone pixel is a direction, never a position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-US" sz="1300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This asymmetry shapes the whole notebook: 3D → 2D is mechanical matrix multiplication; 2D → 3D is only possible because we add knowledge the image lost.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Forward Projection in Practice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02920" y="129844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Lift each point to homogeneous form and apply M — one matrix multiply for the whole scan:</a:t>
            </a:r>
            <a:endParaRPr/>
          </a:p>
        </p:txBody>
      </p:sp>
      <p:pic>
        <p:nvPicPr>
          <p:cNvPr descr="yMX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53583" y="1776244"/>
            <a:ext cx="3484800" cy="39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502920" y="24231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Divide by the third component to land on the image — and keep the depth as a bonus output:</a:t>
            </a:r>
            <a:endParaRPr/>
          </a:p>
        </p:txBody>
      </p:sp>
      <p:pic>
        <p:nvPicPr>
          <p:cNvPr descr="normaliz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47684" y="2817890"/>
            <a:ext cx="4296600" cy="55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502920" y="35661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Then keep only the points that are actually visible — positive depth, inside the image bounds:</a:t>
            </a:r>
            <a:endParaRPr/>
          </a:p>
        </p:txBody>
      </p:sp>
      <p:pic>
        <p:nvPicPr>
          <p:cNvPr descr="valid_all.png"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51984" y="4226025"/>
            <a:ext cx="4488000" cy="24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02920" y="49834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Filter first: drop points with X ≤ 0 in the Velodyne frame — half the 360° scan is behind the camera and would otherwise project to phantom pixels.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Before You Can Project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Every projection in the notebook is built from three calibration inputs: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914400" y="19659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1.  The extrinsic transform  Tr_velo_to_cam  (4×4) — LiDAR frame to camera frame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914400" y="2468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2.  The rectifying rotation  R0_rect  — aligns the stereo camera axes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914400" y="297180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3.  The projection matrix  P2  (3×4) — camera 2 intrinsics plus its stereo baseline offset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502920" y="379476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Never skip the depth check — a point behind the camera still divides to a valid-looking pixel, silently corrupting the overlay.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02920" y="45262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pykitti parses all of this for you — data.calib.T_cam0_velo, data.calib.R_rect_00, and data.calib.P_rect_20 — but check the shapes: R0 may arrive 3×3 or 4×4 depending on the version.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The Two Directions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502920" y="1325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One matrix M, two directions: project 3D into the image, or pin a pixel to the ground plane and solve back out.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594360" y="21031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Forward — every point, every frame</a:t>
            </a:r>
            <a:endParaRPr/>
          </a:p>
        </p:txBody>
      </p:sp>
      <p:pic>
        <p:nvPicPr>
          <p:cNvPr descr="fwd_lift.png" id="264" name="Google Shape;2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659385"/>
            <a:ext cx="1819300" cy="27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wd_chain.png" id="265" name="Google Shape;26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3403155"/>
            <a:ext cx="2194200" cy="243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wd_norm.png" id="266" name="Google Shape;26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994439"/>
            <a:ext cx="1541000" cy="4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6263640" y="210312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Backward — only with a constraint (Z = z_g)</a:t>
            </a:r>
            <a:endParaRPr/>
          </a:p>
        </p:txBody>
      </p:sp>
      <p:pic>
        <p:nvPicPr>
          <p:cNvPr descr="bwd_fix.png" id="268" name="Google Shape;26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09359" y="2674799"/>
            <a:ext cx="809600" cy="18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wd_abc.png" id="269" name="Google Shape;26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59" y="3347243"/>
            <a:ext cx="4600000" cy="190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wd_sys.png" id="270" name="Google Shape;27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9359" y="3912076"/>
            <a:ext cx="3785800" cy="46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wd_cramer.png" id="271" name="Google Shape;271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9359" y="4657681"/>
            <a:ext cx="3551200" cy="40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wd_result.png" id="272" name="Google Shape;272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09359" y="5443803"/>
            <a:ext cx="1554800" cy="20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Which Pixels Are Road?</a:t>
            </a:r>
            <a:endParaRPr/>
          </a:p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Back-projection needs pixels to project — and only ground pixels obey the ground-plane constraint.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In KITTI scenes the road blends into the sidewalk — edge detectors see gradients, not meaning.</a:t>
            </a:r>
            <a:r>
              <a:rPr lang="en-US" sz="1800">
                <a:solidFill>
                  <a:srgbClr val="1A1A1A"/>
                </a:solidFill>
              </a:rPr>
              <a:t> 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We need a model that knows what things are.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SegFormer, trained on Cityscapes, labels every pixel: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19 classes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road, sidewalk, car, person, vegetation, sky, …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Lightweight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the B0 variant is ~15 MB and runs per frame in the notebook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Class 0 = road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mask the road pixels, back-project them, get a metric bird’s-eye view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-US" sz="1300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Division of labor: segmentation decides which pixels matter; geometry decides where they are. Neither can do the other’s job.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type="title"/>
          </p:nvPr>
        </p:nvSpPr>
        <p:spPr>
          <a:xfrm>
            <a:off x="609600" y="351367"/>
            <a:ext cx="109728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</a:pPr>
            <a:r>
              <a:rPr lang="en-US"/>
              <a:t>Geometry First, Fusion Second</a:t>
            </a:r>
            <a:endParaRPr/>
          </a:p>
        </p:txBody>
      </p:sp>
      <p:sp>
        <p:nvSpPr>
          <p:cNvPr id="285" name="Google Shape;285;p30"/>
          <p:cNvSpPr txBox="1"/>
          <p:nvPr>
            <p:ph idx="1" type="body"/>
          </p:nvPr>
        </p:nvSpPr>
        <p:spPr>
          <a:xfrm>
            <a:off x="609600" y="1524000"/>
            <a:ext cx="10972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Tracking, depth completion, point painting — every fusion technique stands on the same projection chain you now know.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Notebook N1 runs all of it on a real KITTI drive: a hundred thousand points per scan,</a:t>
            </a:r>
            <a:r>
              <a:rPr lang="en-US" sz="1800">
                <a:solidFill>
                  <a:srgbClr val="1A1A1A"/>
                </a:solidFill>
              </a:rPr>
              <a:t> </a:t>
            </a:r>
            <a:r>
              <a:rPr lang="en-US" sz="18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a real camera, the actual calibration files.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1A1A1A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 sz="15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What you will build in the notebook: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Forward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project the scan onto the image, color points by depth, render fusion video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Backward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segment the road with SegFormer, back-project to a metric bird’s-eye view</a:t>
            </a:r>
            <a:endParaRPr/>
          </a:p>
          <a:p>
            <a:pPr indent="-342900" lvl="1" marL="9144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800"/>
              <a:buChar char="─"/>
            </a:pPr>
            <a:r>
              <a:rPr b="1" lang="en-US" sz="1600">
                <a:solidFill>
                  <a:srgbClr val="1A1A1A"/>
                </a:solidFill>
                <a:latin typeface="Verdana"/>
                <a:ea typeface="Verdana"/>
                <a:cs typeface="Verdana"/>
                <a:sym typeface="Verdana"/>
              </a:rPr>
              <a:t>Beyond</a:t>
            </a:r>
            <a:r>
              <a:rPr b="0" lang="en-US" sz="1600">
                <a:solidFill>
                  <a:srgbClr val="2D2D2D"/>
                </a:solidFill>
                <a:latin typeface="Verdana"/>
                <a:ea typeface="Verdana"/>
                <a:cs typeface="Verdana"/>
                <a:sym typeface="Verdana"/>
              </a:rPr>
              <a:t> — dense depth maps and a 3D point-painting viewer, all from the same M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600">
              <a:solidFill>
                <a:srgbClr val="2D2D2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i="1" lang="en-US" sz="1300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Don’t worry if it hasn’t all clicked — notebook N1 ties the theory to working code, one cell at a time.</a:t>
            </a:r>
            <a:endParaRPr/>
          </a:p>
        </p:txBody>
      </p:sp>
      <p:sp>
        <p:nvSpPr>
          <p:cNvPr id="286" name="Google Shape;286;p30"/>
          <p:cNvSpPr txBox="1"/>
          <p:nvPr/>
        </p:nvSpPr>
        <p:spPr>
          <a:xfrm>
            <a:off x="0" y="6391656"/>
            <a:ext cx="612648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B6B6B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I-White">
  <a:themeElements>
    <a:clrScheme name="Custom 2">
      <a:dk1>
        <a:srgbClr val="000000"/>
      </a:dk1>
      <a:lt1>
        <a:srgbClr val="FFFFFF"/>
      </a:lt1>
      <a:dk2>
        <a:srgbClr val="6D6D6D"/>
      </a:dk2>
      <a:lt2>
        <a:srgbClr val="947A4F"/>
      </a:lt2>
      <a:accent1>
        <a:srgbClr val="625135"/>
      </a:accent1>
      <a:accent2>
        <a:srgbClr val="B2B7BB"/>
      </a:accent2>
      <a:accent3>
        <a:srgbClr val="2C6A8C"/>
      </a:accent3>
      <a:accent4>
        <a:srgbClr val="000000"/>
      </a:accent4>
      <a:accent5>
        <a:srgbClr val="46A0DC"/>
      </a:accent5>
      <a:accent6>
        <a:srgbClr val="6D6D6D"/>
      </a:accent6>
      <a:hlink>
        <a:srgbClr val="46A0DC"/>
      </a:hlink>
      <a:folHlink>
        <a:srgbClr val="808D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2015-05-27T13:16:15Z</dcterms:created>
  <dc:creator>Melissa</dc:creator>
</cp:coreProperties>
</file>